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036"/>
        </a:solidFill>
      </p:bgPr>
    </p:bg>
    <p:spTree>
      <p:nvGrpSpPr>
        <p:cNvPr id="1" name=""/>
        <p:cNvGrpSpPr/>
        <p:nvPr/>
      </p:nvGrpSpPr>
      <p:grpSpPr>
        <a:xfrm>
          <a:off x="0" y="0"/>
          <a:ext cx="0" cy="0"/>
          <a:chOff x="0" y="0"/>
          <a:chExt cx="0" cy="0"/>
        </a:xfrm>
      </p:grpSpPr>
      <p:sp>
        <p:nvSpPr>
          <p:cNvPr id="2" name="Shape 0"/>
          <p:cNvSpPr/>
          <p:nvPr/>
        </p:nvSpPr>
        <p:spPr>
          <a:xfrm>
            <a:off x="9738360" y="502920"/>
            <a:ext cx="1920240" cy="1920240"/>
          </a:xfrm>
          <a:prstGeom prst="ellipse">
            <a:avLst/>
          </a:prstGeom>
          <a:solidFill>
            <a:srgbClr val="E8C989">
              <a:alpha val="12000"/>
            </a:srgbClr>
          </a:solidFill>
          <a:ln/>
        </p:spPr>
      </p:sp>
      <p:sp>
        <p:nvSpPr>
          <p:cNvPr id="3" name="Shape 1"/>
          <p:cNvSpPr/>
          <p:nvPr/>
        </p:nvSpPr>
        <p:spPr>
          <a:xfrm>
            <a:off x="10104120" y="868680"/>
            <a:ext cx="1188720" cy="1188720"/>
          </a:xfrm>
          <a:prstGeom prst="ellipse">
            <a:avLst/>
          </a:prstGeom>
          <a:solidFill>
            <a:srgbClr val="E8C989">
              <a:alpha val="75000"/>
            </a:srgbClr>
          </a:solidFill>
          <a:ln/>
        </p:spPr>
      </p:sp>
      <p:sp>
        <p:nvSpPr>
          <p:cNvPr id="4" name="Shape 2"/>
          <p:cNvSpPr/>
          <p:nvPr/>
        </p:nvSpPr>
        <p:spPr>
          <a:xfrm>
            <a:off x="0" y="4892040"/>
            <a:ext cx="12188952" cy="1965960"/>
          </a:xfrm>
          <a:prstGeom prst="rect">
            <a:avLst/>
          </a:prstGeom>
          <a:solidFill>
            <a:srgbClr val="6E3F20">
              <a:alpha val="45000"/>
            </a:srgbClr>
          </a:solidFill>
          <a:ln/>
        </p:spPr>
      </p:sp>
      <p:sp>
        <p:nvSpPr>
          <p:cNvPr id="5" name="Shape 3"/>
          <p:cNvSpPr/>
          <p:nvPr/>
        </p:nvSpPr>
        <p:spPr>
          <a:xfrm>
            <a:off x="0" y="5349240"/>
            <a:ext cx="12188952" cy="1508760"/>
          </a:xfrm>
          <a:prstGeom prst="rect">
            <a:avLst/>
          </a:prstGeom>
          <a:solidFill>
            <a:srgbClr val="9C5A2E">
              <a:alpha val="75000"/>
            </a:srgbClr>
          </a:solidFill>
          <a:ln/>
        </p:spPr>
      </p:sp>
      <p:sp>
        <p:nvSpPr>
          <p:cNvPr id="6" name="Shape 4"/>
          <p:cNvSpPr/>
          <p:nvPr/>
        </p:nvSpPr>
        <p:spPr>
          <a:xfrm>
            <a:off x="0" y="5806440"/>
            <a:ext cx="12188952" cy="1051560"/>
          </a:xfrm>
          <a:prstGeom prst="rect">
            <a:avLst/>
          </a:prstGeom>
          <a:solidFill>
            <a:srgbClr val="E8C989">
              <a:alpha val="85000"/>
            </a:srgbClr>
          </a:solidFill>
          <a:ln/>
        </p:spPr>
      </p:sp>
      <p:sp>
        <p:nvSpPr>
          <p:cNvPr id="7" name="Text 5"/>
          <p:cNvSpPr/>
          <p:nvPr/>
        </p:nvSpPr>
        <p:spPr>
          <a:xfrm>
            <a:off x="640080" y="1417320"/>
            <a:ext cx="7315200" cy="365760"/>
          </a:xfrm>
          <a:prstGeom prst="rect">
            <a:avLst/>
          </a:prstGeom>
          <a:noFill/>
          <a:ln/>
        </p:spPr>
        <p:txBody>
          <a:bodyPr wrap="square" rtlCol="0" anchor="ctr"/>
          <a:lstStyle/>
          <a:p>
            <a:pPr indent="0" marL="0">
              <a:buNone/>
            </a:pPr>
            <a:r>
              <a:rPr lang="en-US" sz="1300" b="1" spc="300" kern="0" dirty="0">
                <a:solidFill>
                  <a:srgbClr val="E8C989"/>
                </a:solidFill>
                <a:latin typeface="Calibri" pitchFamily="34" charset="0"/>
                <a:ea typeface="Calibri" pitchFamily="34" charset="-122"/>
                <a:cs typeface="Calibri" pitchFamily="34" charset="-120"/>
              </a:rPr>
              <a:t>TOURISM  ·  AGENTIC AI CHALLENGE</a:t>
            </a:r>
            <a:endParaRPr lang="en-US" sz="1300" dirty="0"/>
          </a:p>
        </p:txBody>
      </p:sp>
      <p:sp>
        <p:nvSpPr>
          <p:cNvPr id="8" name="Text 6"/>
          <p:cNvSpPr/>
          <p:nvPr/>
        </p:nvSpPr>
        <p:spPr>
          <a:xfrm>
            <a:off x="594360" y="1874520"/>
            <a:ext cx="10515600" cy="960120"/>
          </a:xfrm>
          <a:prstGeom prst="rect">
            <a:avLst/>
          </a:prstGeom>
          <a:noFill/>
          <a:ln/>
        </p:spPr>
        <p:txBody>
          <a:bodyPr wrap="square"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Smart Rann of Kutch</a:t>
            </a:r>
            <a:endParaRPr lang="en-US" sz="5000" dirty="0"/>
          </a:p>
        </p:txBody>
      </p:sp>
      <p:sp>
        <p:nvSpPr>
          <p:cNvPr id="9" name="Text 7"/>
          <p:cNvSpPr/>
          <p:nvPr/>
        </p:nvSpPr>
        <p:spPr>
          <a:xfrm>
            <a:off x="621792" y="2697480"/>
            <a:ext cx="10515600" cy="640080"/>
          </a:xfrm>
          <a:prstGeom prst="rect">
            <a:avLst/>
          </a:prstGeom>
          <a:noFill/>
          <a:ln/>
        </p:spPr>
        <p:txBody>
          <a:bodyPr wrap="square" rtlCol="0" anchor="ctr"/>
          <a:lstStyle/>
          <a:p>
            <a:pPr indent="0" marL="0">
              <a:buNone/>
            </a:pPr>
            <a:r>
              <a:rPr lang="en-US" sz="2600" i="1" dirty="0">
                <a:solidFill>
                  <a:srgbClr val="E8C989"/>
                </a:solidFill>
                <a:latin typeface="Cambria" pitchFamily="34" charset="0"/>
                <a:ea typeface="Cambria" pitchFamily="34" charset="-122"/>
                <a:cs typeface="Cambria" pitchFamily="34" charset="-120"/>
              </a:rPr>
              <a:t>Eco-Tourism &amp; Carrying Capacity Planner</a:t>
            </a:r>
            <a:endParaRPr lang="en-US" sz="2600" dirty="0"/>
          </a:p>
        </p:txBody>
      </p:sp>
      <p:sp>
        <p:nvSpPr>
          <p:cNvPr id="10" name="Shape 8"/>
          <p:cNvSpPr/>
          <p:nvPr/>
        </p:nvSpPr>
        <p:spPr>
          <a:xfrm>
            <a:off x="640080" y="3520440"/>
            <a:ext cx="1828800" cy="0"/>
          </a:xfrm>
          <a:prstGeom prst="line">
            <a:avLst/>
          </a:prstGeom>
          <a:noFill/>
          <a:ln w="25400">
            <a:solidFill>
              <a:srgbClr val="E8C989"/>
            </a:solidFill>
            <a:prstDash val="solid"/>
          </a:ln>
        </p:spPr>
      </p:sp>
      <p:sp>
        <p:nvSpPr>
          <p:cNvPr id="11" name="Text 9"/>
          <p:cNvSpPr/>
          <p:nvPr/>
        </p:nvSpPr>
        <p:spPr>
          <a:xfrm>
            <a:off x="640080" y="3703320"/>
            <a:ext cx="7863840" cy="822960"/>
          </a:xfrm>
          <a:prstGeom prst="rect">
            <a:avLst/>
          </a:prstGeom>
          <a:noFill/>
          <a:ln/>
        </p:spPr>
        <p:txBody>
          <a:bodyPr wrap="square" rtlCol="0" anchor="ctr"/>
          <a:lstStyle/>
          <a:p>
            <a:pPr indent="0" marL="0">
              <a:lnSpc>
                <a:spcPct val="125000"/>
              </a:lnSpc>
              <a:buNone/>
            </a:pPr>
            <a:r>
              <a:rPr lang="en-US" sz="1450" dirty="0">
                <a:solidFill>
                  <a:srgbClr val="D9D4C7"/>
                </a:solidFill>
                <a:latin typeface="Calibri" pitchFamily="34" charset="0"/>
                <a:ea typeface="Calibri" pitchFamily="34" charset="-122"/>
                <a:cs typeface="Calibri" pitchFamily="34" charset="-120"/>
              </a:rPr>
              <a:t>Agentic AI for balancing heavy seasonal tourism against fragile desert ecology, water resources and community livelihoods in Kutch, Gujarat.</a:t>
            </a:r>
            <a:endParaRPr lang="en-US" sz="1450" dirty="0"/>
          </a:p>
        </p:txBody>
      </p:sp>
      <p:sp>
        <p:nvSpPr>
          <p:cNvPr id="12" name="Text 1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371"/>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9C5A2E"/>
                </a:solidFill>
                <a:latin typeface="Calibri" pitchFamily="34" charset="0"/>
                <a:ea typeface="Calibri" pitchFamily="34" charset="-122"/>
                <a:cs typeface="Calibri" pitchFamily="34" charset="-120"/>
              </a:rPr>
              <a:t>THE CHALLENGE</a:t>
            </a:r>
            <a:endParaRPr lang="en-US" sz="1250" dirty="0"/>
          </a:p>
        </p:txBody>
      </p:sp>
      <p:sp>
        <p:nvSpPr>
          <p:cNvPr id="3" name="Text 1"/>
          <p:cNvSpPr/>
          <p:nvPr/>
        </p:nvSpPr>
        <p:spPr>
          <a:xfrm>
            <a:off x="548640" y="804672"/>
            <a:ext cx="10789920" cy="822960"/>
          </a:xfrm>
          <a:prstGeom prst="rect">
            <a:avLst/>
          </a:prstGeom>
          <a:noFill/>
          <a:ln/>
        </p:spPr>
        <p:txBody>
          <a:bodyPr wrap="square" rtlCol="0" anchor="ctr"/>
          <a:lstStyle/>
          <a:p>
            <a:pPr indent="0" marL="0">
              <a:buNone/>
            </a:pPr>
            <a:r>
              <a:rPr lang="en-US" sz="2800" b="1" dirty="0">
                <a:solidFill>
                  <a:srgbClr val="2B2620"/>
                </a:solidFill>
                <a:latin typeface="Cambria" pitchFamily="34" charset="0"/>
                <a:ea typeface="Cambria" pitchFamily="34" charset="-122"/>
                <a:cs typeface="Cambria" pitchFamily="34" charset="-120"/>
              </a:rPr>
              <a:t>A festival of light straining a landscape of salt</a:t>
            </a:r>
            <a:endParaRPr lang="en-US" sz="2800" dirty="0"/>
          </a:p>
        </p:txBody>
      </p:sp>
      <p:sp>
        <p:nvSpPr>
          <p:cNvPr id="4" name="Text 2"/>
          <p:cNvSpPr/>
          <p:nvPr/>
        </p:nvSpPr>
        <p:spPr>
          <a:xfrm>
            <a:off x="548640" y="1691640"/>
            <a:ext cx="6537960" cy="2286000"/>
          </a:xfrm>
          <a:prstGeom prst="rect">
            <a:avLst/>
          </a:prstGeom>
          <a:noFill/>
          <a:ln/>
        </p:spPr>
        <p:txBody>
          <a:bodyPr wrap="square" rtlCol="0" anchor="ctr"/>
          <a:lstStyle/>
          <a:p>
            <a:pPr indent="0" marL="0">
              <a:lnSpc>
                <a:spcPct val="135000"/>
              </a:lnSpc>
              <a:buNone/>
            </a:pPr>
            <a:r>
              <a:rPr lang="en-US" sz="1450" dirty="0">
                <a:solidFill>
                  <a:srgbClr val="2B2620"/>
                </a:solidFill>
                <a:latin typeface="Calibri" pitchFamily="34" charset="0"/>
                <a:ea typeface="Calibri" pitchFamily="34" charset="-122"/>
                <a:cs typeface="Calibri" pitchFamily="34" charset="-120"/>
              </a:rPr>
              <a:t>The Rann Utsav and the wider Kutch region draw an enormous seasonal tourist inflow each winter. That surge strains fragile desert ecology, stretches scarce local water resources and outpaces existing infrastructure — while visitors themselves have little guidance toward sustainable, lesser-known eco-tourism alternatives across the region.</a:t>
            </a:r>
            <a:endParaRPr lang="en-US" sz="1450" dirty="0"/>
          </a:p>
        </p:txBody>
      </p:sp>
      <p:sp>
        <p:nvSpPr>
          <p:cNvPr id="5" name="Shape 3"/>
          <p:cNvSpPr/>
          <p:nvPr/>
        </p:nvSpPr>
        <p:spPr>
          <a:xfrm>
            <a:off x="7406640" y="1417320"/>
            <a:ext cx="566928" cy="566928"/>
          </a:xfrm>
          <a:prstGeom prst="ellipse">
            <a:avLst/>
          </a:prstGeom>
          <a:solidFill>
            <a:srgbClr val="9C5A2E"/>
          </a:solidFill>
          <a:ln/>
        </p:spPr>
      </p:sp>
      <p:pic>
        <p:nvPicPr>
          <p:cNvPr id="6" name="Image 0" descr="icons/users.png">    </p:cNvPr>
          <p:cNvPicPr>
            <a:picLocks noChangeAspect="1"/>
          </p:cNvPicPr>
          <p:nvPr/>
        </p:nvPicPr>
        <p:blipFill>
          <a:blip r:embed="rId1"/>
          <a:stretch>
            <a:fillRect/>
          </a:stretch>
        </p:blipFill>
        <p:spPr>
          <a:xfrm>
            <a:off x="7474671" y="1485351"/>
            <a:ext cx="430865" cy="430865"/>
          </a:xfrm>
          <a:prstGeom prst="rect">
            <a:avLst/>
          </a:prstGeom>
        </p:spPr>
      </p:pic>
      <p:sp>
        <p:nvSpPr>
          <p:cNvPr id="7" name="Text 4"/>
          <p:cNvSpPr/>
          <p:nvPr/>
        </p:nvSpPr>
        <p:spPr>
          <a:xfrm>
            <a:off x="8138160" y="1435608"/>
            <a:ext cx="3474720" cy="548640"/>
          </a:xfrm>
          <a:prstGeom prst="rect">
            <a:avLst/>
          </a:prstGeom>
          <a:noFill/>
          <a:ln/>
        </p:spPr>
        <p:txBody>
          <a:bodyPr wrap="square" rtlCol="0" anchor="ctr"/>
          <a:lstStyle/>
          <a:p>
            <a:pPr indent="0" marL="0">
              <a:lnSpc>
                <a:spcPct val="115000"/>
              </a:lnSpc>
              <a:buNone/>
            </a:pPr>
            <a:r>
              <a:rPr lang="en-US" sz="1250" dirty="0">
                <a:solidFill>
                  <a:srgbClr val="2B2620"/>
                </a:solidFill>
                <a:latin typeface="Calibri" pitchFamily="34" charset="0"/>
                <a:ea typeface="Calibri" pitchFamily="34" charset="-122"/>
                <a:cs typeface="Calibri" pitchFamily="34" charset="-120"/>
              </a:rPr>
              <a:t>Peak-season overcrowding at Rann Utsav venues</a:t>
            </a:r>
            <a:endParaRPr lang="en-US" sz="1250" dirty="0"/>
          </a:p>
        </p:txBody>
      </p:sp>
      <p:sp>
        <p:nvSpPr>
          <p:cNvPr id="8" name="Shape 5"/>
          <p:cNvSpPr/>
          <p:nvPr/>
        </p:nvSpPr>
        <p:spPr>
          <a:xfrm>
            <a:off x="7406640" y="2240280"/>
            <a:ext cx="566928" cy="566928"/>
          </a:xfrm>
          <a:prstGeom prst="ellipse">
            <a:avLst/>
          </a:prstGeom>
          <a:solidFill>
            <a:srgbClr val="9C5A2E"/>
          </a:solidFill>
          <a:ln/>
        </p:spPr>
      </p:sp>
      <p:pic>
        <p:nvPicPr>
          <p:cNvPr id="9" name="Image 1" descr="icons/droplet.png">    </p:cNvPr>
          <p:cNvPicPr>
            <a:picLocks noChangeAspect="1"/>
          </p:cNvPicPr>
          <p:nvPr/>
        </p:nvPicPr>
        <p:blipFill>
          <a:blip r:embed="rId2"/>
          <a:stretch>
            <a:fillRect/>
          </a:stretch>
        </p:blipFill>
        <p:spPr>
          <a:xfrm>
            <a:off x="7474671" y="2308311"/>
            <a:ext cx="430865" cy="430865"/>
          </a:xfrm>
          <a:prstGeom prst="rect">
            <a:avLst/>
          </a:prstGeom>
        </p:spPr>
      </p:pic>
      <p:sp>
        <p:nvSpPr>
          <p:cNvPr id="10" name="Text 6"/>
          <p:cNvSpPr/>
          <p:nvPr/>
        </p:nvSpPr>
        <p:spPr>
          <a:xfrm>
            <a:off x="8138160" y="2258568"/>
            <a:ext cx="3474720" cy="548640"/>
          </a:xfrm>
          <a:prstGeom prst="rect">
            <a:avLst/>
          </a:prstGeom>
          <a:noFill/>
          <a:ln/>
        </p:spPr>
        <p:txBody>
          <a:bodyPr wrap="square" rtlCol="0" anchor="ctr"/>
          <a:lstStyle/>
          <a:p>
            <a:pPr indent="0" marL="0">
              <a:lnSpc>
                <a:spcPct val="115000"/>
              </a:lnSpc>
              <a:buNone/>
            </a:pPr>
            <a:r>
              <a:rPr lang="en-US" sz="1250" dirty="0">
                <a:solidFill>
                  <a:srgbClr val="2B2620"/>
                </a:solidFill>
                <a:latin typeface="Calibri" pitchFamily="34" charset="0"/>
                <a:ea typeface="Calibri" pitchFamily="34" charset="-122"/>
                <a:cs typeface="Calibri" pitchFamily="34" charset="-120"/>
              </a:rPr>
              <a:t>Pressure on scarce desert groundwater &amp; supply</a:t>
            </a:r>
            <a:endParaRPr lang="en-US" sz="1250" dirty="0"/>
          </a:p>
        </p:txBody>
      </p:sp>
      <p:sp>
        <p:nvSpPr>
          <p:cNvPr id="11" name="Shape 7"/>
          <p:cNvSpPr/>
          <p:nvPr/>
        </p:nvSpPr>
        <p:spPr>
          <a:xfrm>
            <a:off x="7406640" y="3063240"/>
            <a:ext cx="566928" cy="566928"/>
          </a:xfrm>
          <a:prstGeom prst="ellipse">
            <a:avLst/>
          </a:prstGeom>
          <a:solidFill>
            <a:srgbClr val="9C5A2E"/>
          </a:solidFill>
          <a:ln/>
        </p:spPr>
      </p:sp>
      <p:pic>
        <p:nvPicPr>
          <p:cNvPr id="12" name="Image 2" descr="icons/leaf.png">    </p:cNvPr>
          <p:cNvPicPr>
            <a:picLocks noChangeAspect="1"/>
          </p:cNvPicPr>
          <p:nvPr/>
        </p:nvPicPr>
        <p:blipFill>
          <a:blip r:embed="rId3"/>
          <a:stretch>
            <a:fillRect/>
          </a:stretch>
        </p:blipFill>
        <p:spPr>
          <a:xfrm>
            <a:off x="7474671" y="3131271"/>
            <a:ext cx="430865" cy="430865"/>
          </a:xfrm>
          <a:prstGeom prst="rect">
            <a:avLst/>
          </a:prstGeom>
        </p:spPr>
      </p:pic>
      <p:sp>
        <p:nvSpPr>
          <p:cNvPr id="13" name="Text 8"/>
          <p:cNvSpPr/>
          <p:nvPr/>
        </p:nvSpPr>
        <p:spPr>
          <a:xfrm>
            <a:off x="8138160" y="3081528"/>
            <a:ext cx="3474720" cy="548640"/>
          </a:xfrm>
          <a:prstGeom prst="rect">
            <a:avLst/>
          </a:prstGeom>
          <a:noFill/>
          <a:ln/>
        </p:spPr>
        <p:txBody>
          <a:bodyPr wrap="square" rtlCol="0" anchor="ctr"/>
          <a:lstStyle/>
          <a:p>
            <a:pPr indent="0" marL="0">
              <a:lnSpc>
                <a:spcPct val="115000"/>
              </a:lnSpc>
              <a:buNone/>
            </a:pPr>
            <a:r>
              <a:rPr lang="en-US" sz="1250" dirty="0">
                <a:solidFill>
                  <a:srgbClr val="2B2620"/>
                </a:solidFill>
                <a:latin typeface="Calibri" pitchFamily="34" charset="0"/>
                <a:ea typeface="Calibri" pitchFamily="34" charset="-122"/>
                <a:cs typeface="Calibri" pitchFamily="34" charset="-120"/>
              </a:rPr>
              <a:t>Disturbance to fragile salt-flat &amp; grassland ecology</a:t>
            </a:r>
            <a:endParaRPr lang="en-US" sz="1250" dirty="0"/>
          </a:p>
        </p:txBody>
      </p:sp>
      <p:sp>
        <p:nvSpPr>
          <p:cNvPr id="14" name="Shape 9"/>
          <p:cNvSpPr/>
          <p:nvPr/>
        </p:nvSpPr>
        <p:spPr>
          <a:xfrm>
            <a:off x="7406640" y="3886200"/>
            <a:ext cx="566928" cy="566928"/>
          </a:xfrm>
          <a:prstGeom prst="ellipse">
            <a:avLst/>
          </a:prstGeom>
          <a:solidFill>
            <a:srgbClr val="9C5A2E"/>
          </a:solidFill>
          <a:ln/>
        </p:spPr>
      </p:sp>
      <p:pic>
        <p:nvPicPr>
          <p:cNvPr id="15" name="Image 3" descr="icons/map.png">    </p:cNvPr>
          <p:cNvPicPr>
            <a:picLocks noChangeAspect="1"/>
          </p:cNvPicPr>
          <p:nvPr/>
        </p:nvPicPr>
        <p:blipFill>
          <a:blip r:embed="rId4"/>
          <a:stretch>
            <a:fillRect/>
          </a:stretch>
        </p:blipFill>
        <p:spPr>
          <a:xfrm>
            <a:off x="7474671" y="3954231"/>
            <a:ext cx="430865" cy="430865"/>
          </a:xfrm>
          <a:prstGeom prst="rect">
            <a:avLst/>
          </a:prstGeom>
        </p:spPr>
      </p:pic>
      <p:sp>
        <p:nvSpPr>
          <p:cNvPr id="16" name="Text 10"/>
          <p:cNvSpPr/>
          <p:nvPr/>
        </p:nvSpPr>
        <p:spPr>
          <a:xfrm>
            <a:off x="8138160" y="3904488"/>
            <a:ext cx="3474720" cy="548640"/>
          </a:xfrm>
          <a:prstGeom prst="rect">
            <a:avLst/>
          </a:prstGeom>
          <a:noFill/>
          <a:ln/>
        </p:spPr>
        <p:txBody>
          <a:bodyPr wrap="square" rtlCol="0" anchor="ctr"/>
          <a:lstStyle/>
          <a:p>
            <a:pPr indent="0" marL="0">
              <a:lnSpc>
                <a:spcPct val="115000"/>
              </a:lnSpc>
              <a:buNone/>
            </a:pPr>
            <a:r>
              <a:rPr lang="en-US" sz="1250" dirty="0">
                <a:solidFill>
                  <a:srgbClr val="2B2620"/>
                </a:solidFill>
                <a:latin typeface="Calibri" pitchFamily="34" charset="0"/>
                <a:ea typeface="Calibri" pitchFamily="34" charset="-122"/>
                <a:cs typeface="Calibri" pitchFamily="34" charset="-120"/>
              </a:rPr>
              <a:t>Visitors unaware of quieter, sustainable circuits</a:t>
            </a:r>
            <a:endParaRPr lang="en-US" sz="1250" dirty="0"/>
          </a:p>
        </p:txBody>
      </p:sp>
      <p:sp>
        <p:nvSpPr>
          <p:cNvPr id="17" name="Shape 11"/>
          <p:cNvSpPr/>
          <p:nvPr/>
        </p:nvSpPr>
        <p:spPr>
          <a:xfrm>
            <a:off x="0" y="5989320"/>
            <a:ext cx="12188952" cy="868680"/>
          </a:xfrm>
          <a:prstGeom prst="rect">
            <a:avLst/>
          </a:prstGeom>
          <a:solidFill>
            <a:srgbClr val="9C5A2E"/>
          </a:solidFill>
          <a:ln/>
        </p:spPr>
      </p:sp>
      <p:sp>
        <p:nvSpPr>
          <p:cNvPr id="18" name="Text 12"/>
          <p:cNvSpPr/>
          <p:nvPr/>
        </p:nvSpPr>
        <p:spPr>
          <a:xfrm>
            <a:off x="548640" y="5989320"/>
            <a:ext cx="11064240" cy="868680"/>
          </a:xfrm>
          <a:prstGeom prst="rect">
            <a:avLst/>
          </a:prstGeom>
          <a:noFill/>
          <a:ln/>
        </p:spPr>
        <p:txBody>
          <a:bodyPr wrap="square" rtlCol="0" anchor="ctr"/>
          <a:lstStyle/>
          <a:p>
            <a:pPr indent="0" marL="0">
              <a:buNone/>
            </a:pPr>
            <a:r>
              <a:rPr lang="en-US" sz="1350" i="1" dirty="0">
                <a:solidFill>
                  <a:srgbClr val="FFFFFF"/>
                </a:solidFill>
                <a:latin typeface="Calibri" pitchFamily="34" charset="0"/>
                <a:ea typeface="Calibri" pitchFamily="34" charset="-122"/>
                <a:cs typeface="Calibri" pitchFamily="34" charset="-120"/>
              </a:rPr>
              <a:t>The core tension: Kutch's identity as a world-class winter destination depends entirely on the ecological fragility that mass tourism most threatens.</a:t>
            </a:r>
            <a:endParaRPr lang="en-US" sz="1350" dirty="0"/>
          </a:p>
        </p:txBody>
      </p:sp>
      <p:sp>
        <p:nvSpPr>
          <p:cNvPr id="19" name="Text 1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036"/>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8C989"/>
                </a:solidFill>
                <a:latin typeface="Calibri" pitchFamily="34" charset="0"/>
                <a:ea typeface="Calibri" pitchFamily="34" charset="-122"/>
                <a:cs typeface="Calibri" pitchFamily="34" charset="-120"/>
              </a:rPr>
              <a:t>OBJECTIVE</a:t>
            </a:r>
            <a:endParaRPr lang="en-US" sz="1250" dirty="0"/>
          </a:p>
        </p:txBody>
      </p:sp>
      <p:sp>
        <p:nvSpPr>
          <p:cNvPr id="3" name="Text 1"/>
          <p:cNvSpPr/>
          <p:nvPr/>
        </p:nvSpPr>
        <p:spPr>
          <a:xfrm>
            <a:off x="548640" y="804672"/>
            <a:ext cx="10789920" cy="100584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Build Agentic AI that protects the Rann while it welcomes the world</a:t>
            </a:r>
            <a:endParaRPr lang="en-US" sz="2700" dirty="0"/>
          </a:p>
        </p:txBody>
      </p:sp>
      <p:sp>
        <p:nvSpPr>
          <p:cNvPr id="4" name="Text 2"/>
          <p:cNvSpPr/>
          <p:nvPr/>
        </p:nvSpPr>
        <p:spPr>
          <a:xfrm>
            <a:off x="548640" y="1783080"/>
            <a:ext cx="6400800" cy="1463040"/>
          </a:xfrm>
          <a:prstGeom prst="rect">
            <a:avLst/>
          </a:prstGeom>
          <a:noFill/>
          <a:ln/>
        </p:spPr>
        <p:txBody>
          <a:bodyPr wrap="square" rtlCol="0" anchor="ctr"/>
          <a:lstStyle/>
          <a:p>
            <a:pPr indent="0" marL="0">
              <a:lnSpc>
                <a:spcPct val="135000"/>
              </a:lnSpc>
              <a:buNone/>
            </a:pPr>
            <a:r>
              <a:rPr lang="en-US" sz="1450" dirty="0">
                <a:solidFill>
                  <a:srgbClr val="D9D4C7"/>
                </a:solidFill>
                <a:latin typeface="Calibri" pitchFamily="34" charset="0"/>
                <a:ea typeface="Calibri" pitchFamily="34" charset="-122"/>
                <a:cs typeface="Calibri" pitchFamily="34" charset="-120"/>
              </a:rPr>
              <a:t>Design a coordinated system of autonomous AI agents that manage tourist load in real time, recommend sustainable travel itineraries, and actively protect ecologically sensitive zones across Kutch and its surrounding regions.</a:t>
            </a:r>
            <a:endParaRPr lang="en-US" sz="1450" dirty="0"/>
          </a:p>
        </p:txBody>
      </p:sp>
      <p:sp>
        <p:nvSpPr>
          <p:cNvPr id="5" name="Shape 3"/>
          <p:cNvSpPr/>
          <p:nvPr/>
        </p:nvSpPr>
        <p:spPr>
          <a:xfrm>
            <a:off x="548640" y="3520440"/>
            <a:ext cx="3429000" cy="2468880"/>
          </a:xfrm>
          <a:prstGeom prst="roundRect">
            <a:avLst>
              <a:gd name="adj" fmla="val 4444"/>
            </a:avLst>
          </a:prstGeom>
          <a:solidFill>
            <a:srgbClr val="252B47"/>
          </a:solidFill>
          <a:ln/>
        </p:spPr>
      </p:sp>
      <p:sp>
        <p:nvSpPr>
          <p:cNvPr id="6" name="Shape 4"/>
          <p:cNvSpPr/>
          <p:nvPr/>
        </p:nvSpPr>
        <p:spPr>
          <a:xfrm>
            <a:off x="868680" y="3840480"/>
            <a:ext cx="685800" cy="685800"/>
          </a:xfrm>
          <a:prstGeom prst="ellipse">
            <a:avLst/>
          </a:prstGeom>
          <a:solidFill>
            <a:srgbClr val="9C5A2E"/>
          </a:solidFill>
          <a:ln/>
        </p:spPr>
      </p:sp>
      <p:pic>
        <p:nvPicPr>
          <p:cNvPr id="7" name="Image 0" descr="icons/gauge.png">    </p:cNvPr>
          <p:cNvPicPr>
            <a:picLocks noChangeAspect="1"/>
          </p:cNvPicPr>
          <p:nvPr/>
        </p:nvPicPr>
        <p:blipFill>
          <a:blip r:embed="rId1"/>
          <a:stretch>
            <a:fillRect/>
          </a:stretch>
        </p:blipFill>
        <p:spPr>
          <a:xfrm>
            <a:off x="950976" y="3922776"/>
            <a:ext cx="521208" cy="521208"/>
          </a:xfrm>
          <a:prstGeom prst="rect">
            <a:avLst/>
          </a:prstGeom>
        </p:spPr>
      </p:pic>
      <p:sp>
        <p:nvSpPr>
          <p:cNvPr id="8" name="Text 5"/>
          <p:cNvSpPr/>
          <p:nvPr/>
        </p:nvSpPr>
        <p:spPr>
          <a:xfrm>
            <a:off x="868680" y="4663440"/>
            <a:ext cx="2834640" cy="365760"/>
          </a:xfrm>
          <a:prstGeom prst="rect">
            <a:avLst/>
          </a:prstGeom>
          <a:noFill/>
          <a:ln/>
        </p:spPr>
        <p:txBody>
          <a:bodyPr wrap="square" rtlCol="0" anchor="ctr"/>
          <a:lstStyle/>
          <a:p>
            <a:pPr indent="0" marL="0">
              <a:buNone/>
            </a:pPr>
            <a:r>
              <a:rPr lang="en-US" sz="1600" b="1" dirty="0">
                <a:solidFill>
                  <a:srgbClr val="E8C989"/>
                </a:solidFill>
                <a:latin typeface="Cambria" pitchFamily="34" charset="0"/>
                <a:ea typeface="Cambria" pitchFamily="34" charset="-122"/>
                <a:cs typeface="Cambria" pitchFamily="34" charset="-120"/>
              </a:rPr>
              <a:t>Manage Load</a:t>
            </a:r>
            <a:endParaRPr lang="en-US" sz="1600" dirty="0"/>
          </a:p>
        </p:txBody>
      </p:sp>
      <p:sp>
        <p:nvSpPr>
          <p:cNvPr id="9" name="Text 6"/>
          <p:cNvSpPr/>
          <p:nvPr/>
        </p:nvSpPr>
        <p:spPr>
          <a:xfrm>
            <a:off x="868680" y="5029200"/>
            <a:ext cx="2834640" cy="868680"/>
          </a:xfrm>
          <a:prstGeom prst="rect">
            <a:avLst/>
          </a:prstGeom>
          <a:noFill/>
          <a:ln/>
        </p:spPr>
        <p:txBody>
          <a:bodyPr wrap="square" rtlCol="0" anchor="ctr"/>
          <a:lstStyle/>
          <a:p>
            <a:pPr indent="0" marL="0">
              <a:lnSpc>
                <a:spcPct val="120000"/>
              </a:lnSpc>
              <a:buNone/>
            </a:pPr>
            <a:r>
              <a:rPr lang="en-US" sz="1200" dirty="0">
                <a:solidFill>
                  <a:srgbClr val="C9C3B5"/>
                </a:solidFill>
                <a:latin typeface="Calibri" pitchFamily="34" charset="0"/>
                <a:ea typeface="Calibri" pitchFamily="34" charset="-122"/>
                <a:cs typeface="Calibri" pitchFamily="34" charset="-120"/>
              </a:rPr>
              <a:t>Forecast &amp; regulate visitor flow before it strains a site</a:t>
            </a:r>
            <a:endParaRPr lang="en-US" sz="1200" dirty="0"/>
          </a:p>
        </p:txBody>
      </p:sp>
      <p:sp>
        <p:nvSpPr>
          <p:cNvPr id="10" name="Shape 7"/>
          <p:cNvSpPr/>
          <p:nvPr/>
        </p:nvSpPr>
        <p:spPr>
          <a:xfrm>
            <a:off x="4206240" y="3520440"/>
            <a:ext cx="3429000" cy="2468880"/>
          </a:xfrm>
          <a:prstGeom prst="roundRect">
            <a:avLst>
              <a:gd name="adj" fmla="val 4444"/>
            </a:avLst>
          </a:prstGeom>
          <a:solidFill>
            <a:srgbClr val="252B47"/>
          </a:solidFill>
          <a:ln/>
        </p:spPr>
      </p:sp>
      <p:sp>
        <p:nvSpPr>
          <p:cNvPr id="11" name="Shape 8"/>
          <p:cNvSpPr/>
          <p:nvPr/>
        </p:nvSpPr>
        <p:spPr>
          <a:xfrm>
            <a:off x="4526280" y="3840480"/>
            <a:ext cx="685800" cy="685800"/>
          </a:xfrm>
          <a:prstGeom prst="ellipse">
            <a:avLst/>
          </a:prstGeom>
          <a:solidFill>
            <a:srgbClr val="9C5A2E"/>
          </a:solidFill>
          <a:ln/>
        </p:spPr>
      </p:sp>
      <p:pic>
        <p:nvPicPr>
          <p:cNvPr id="12" name="Image 1" descr="icons/route.png">    </p:cNvPr>
          <p:cNvPicPr>
            <a:picLocks noChangeAspect="1"/>
          </p:cNvPicPr>
          <p:nvPr/>
        </p:nvPicPr>
        <p:blipFill>
          <a:blip r:embed="rId2"/>
          <a:stretch>
            <a:fillRect/>
          </a:stretch>
        </p:blipFill>
        <p:spPr>
          <a:xfrm>
            <a:off x="4608576" y="3922776"/>
            <a:ext cx="521208" cy="521208"/>
          </a:xfrm>
          <a:prstGeom prst="rect">
            <a:avLst/>
          </a:prstGeom>
        </p:spPr>
      </p:pic>
      <p:sp>
        <p:nvSpPr>
          <p:cNvPr id="13" name="Text 9"/>
          <p:cNvSpPr/>
          <p:nvPr/>
        </p:nvSpPr>
        <p:spPr>
          <a:xfrm>
            <a:off x="4526280" y="4663440"/>
            <a:ext cx="2834640" cy="365760"/>
          </a:xfrm>
          <a:prstGeom prst="rect">
            <a:avLst/>
          </a:prstGeom>
          <a:noFill/>
          <a:ln/>
        </p:spPr>
        <p:txBody>
          <a:bodyPr wrap="square" rtlCol="0" anchor="ctr"/>
          <a:lstStyle/>
          <a:p>
            <a:pPr indent="0" marL="0">
              <a:buNone/>
            </a:pPr>
            <a:r>
              <a:rPr lang="en-US" sz="1600" b="1" dirty="0">
                <a:solidFill>
                  <a:srgbClr val="E8C989"/>
                </a:solidFill>
                <a:latin typeface="Cambria" pitchFamily="34" charset="0"/>
                <a:ea typeface="Cambria" pitchFamily="34" charset="-122"/>
                <a:cs typeface="Cambria" pitchFamily="34" charset="-120"/>
              </a:rPr>
              <a:t>Guide Sustainably</a:t>
            </a:r>
            <a:endParaRPr lang="en-US" sz="1600" dirty="0"/>
          </a:p>
        </p:txBody>
      </p:sp>
      <p:sp>
        <p:nvSpPr>
          <p:cNvPr id="14" name="Text 10"/>
          <p:cNvSpPr/>
          <p:nvPr/>
        </p:nvSpPr>
        <p:spPr>
          <a:xfrm>
            <a:off x="4526280" y="5029200"/>
            <a:ext cx="2834640" cy="868680"/>
          </a:xfrm>
          <a:prstGeom prst="rect">
            <a:avLst/>
          </a:prstGeom>
          <a:noFill/>
          <a:ln/>
        </p:spPr>
        <p:txBody>
          <a:bodyPr wrap="square" rtlCol="0" anchor="ctr"/>
          <a:lstStyle/>
          <a:p>
            <a:pPr indent="0" marL="0">
              <a:lnSpc>
                <a:spcPct val="120000"/>
              </a:lnSpc>
              <a:buNone/>
            </a:pPr>
            <a:r>
              <a:rPr lang="en-US" sz="1200" dirty="0">
                <a:solidFill>
                  <a:srgbClr val="C9C3B5"/>
                </a:solidFill>
                <a:latin typeface="Calibri" pitchFamily="34" charset="0"/>
                <a:ea typeface="Calibri" pitchFamily="34" charset="-122"/>
                <a:cs typeface="Calibri" pitchFamily="34" charset="-120"/>
              </a:rPr>
              <a:t>Steer travelers toward balanced, lesser-known circuits</a:t>
            </a:r>
            <a:endParaRPr lang="en-US" sz="1200" dirty="0"/>
          </a:p>
        </p:txBody>
      </p:sp>
      <p:sp>
        <p:nvSpPr>
          <p:cNvPr id="15" name="Shape 11"/>
          <p:cNvSpPr/>
          <p:nvPr/>
        </p:nvSpPr>
        <p:spPr>
          <a:xfrm>
            <a:off x="7863840" y="3520440"/>
            <a:ext cx="3429000" cy="2468880"/>
          </a:xfrm>
          <a:prstGeom prst="roundRect">
            <a:avLst>
              <a:gd name="adj" fmla="val 4444"/>
            </a:avLst>
          </a:prstGeom>
          <a:solidFill>
            <a:srgbClr val="252B47"/>
          </a:solidFill>
          <a:ln/>
        </p:spPr>
      </p:sp>
      <p:sp>
        <p:nvSpPr>
          <p:cNvPr id="16" name="Shape 12"/>
          <p:cNvSpPr/>
          <p:nvPr/>
        </p:nvSpPr>
        <p:spPr>
          <a:xfrm>
            <a:off x="8183880" y="3840480"/>
            <a:ext cx="685800" cy="685800"/>
          </a:xfrm>
          <a:prstGeom prst="ellipse">
            <a:avLst/>
          </a:prstGeom>
          <a:solidFill>
            <a:srgbClr val="9C5A2E"/>
          </a:solidFill>
          <a:ln/>
        </p:spPr>
      </p:sp>
      <p:pic>
        <p:nvPicPr>
          <p:cNvPr id="17" name="Image 2" descr="icons/shield.png">    </p:cNvPr>
          <p:cNvPicPr>
            <a:picLocks noChangeAspect="1"/>
          </p:cNvPicPr>
          <p:nvPr/>
        </p:nvPicPr>
        <p:blipFill>
          <a:blip r:embed="rId3"/>
          <a:stretch>
            <a:fillRect/>
          </a:stretch>
        </p:blipFill>
        <p:spPr>
          <a:xfrm>
            <a:off x="8266176" y="3922776"/>
            <a:ext cx="521208" cy="521208"/>
          </a:xfrm>
          <a:prstGeom prst="rect">
            <a:avLst/>
          </a:prstGeom>
        </p:spPr>
      </p:pic>
      <p:sp>
        <p:nvSpPr>
          <p:cNvPr id="18" name="Text 13"/>
          <p:cNvSpPr/>
          <p:nvPr/>
        </p:nvSpPr>
        <p:spPr>
          <a:xfrm>
            <a:off x="8183880" y="4663440"/>
            <a:ext cx="2834640" cy="365760"/>
          </a:xfrm>
          <a:prstGeom prst="rect">
            <a:avLst/>
          </a:prstGeom>
          <a:noFill/>
          <a:ln/>
        </p:spPr>
        <p:txBody>
          <a:bodyPr wrap="square" rtlCol="0" anchor="ctr"/>
          <a:lstStyle/>
          <a:p>
            <a:pPr indent="0" marL="0">
              <a:buNone/>
            </a:pPr>
            <a:r>
              <a:rPr lang="en-US" sz="1600" b="1" dirty="0">
                <a:solidFill>
                  <a:srgbClr val="E8C989"/>
                </a:solidFill>
                <a:latin typeface="Cambria" pitchFamily="34" charset="0"/>
                <a:ea typeface="Cambria" pitchFamily="34" charset="-122"/>
                <a:cs typeface="Cambria" pitchFamily="34" charset="-120"/>
              </a:rPr>
              <a:t>Protect the Rann</a:t>
            </a:r>
            <a:endParaRPr lang="en-US" sz="1600" dirty="0"/>
          </a:p>
        </p:txBody>
      </p:sp>
      <p:sp>
        <p:nvSpPr>
          <p:cNvPr id="19" name="Text 14"/>
          <p:cNvSpPr/>
          <p:nvPr/>
        </p:nvSpPr>
        <p:spPr>
          <a:xfrm>
            <a:off x="8183880" y="5029200"/>
            <a:ext cx="2834640" cy="868680"/>
          </a:xfrm>
          <a:prstGeom prst="rect">
            <a:avLst/>
          </a:prstGeom>
          <a:noFill/>
          <a:ln/>
        </p:spPr>
        <p:txBody>
          <a:bodyPr wrap="square" rtlCol="0" anchor="ctr"/>
          <a:lstStyle/>
          <a:p>
            <a:pPr indent="0" marL="0">
              <a:lnSpc>
                <a:spcPct val="120000"/>
              </a:lnSpc>
              <a:buNone/>
            </a:pPr>
            <a:r>
              <a:rPr lang="en-US" sz="1200" dirty="0">
                <a:solidFill>
                  <a:srgbClr val="C9C3B5"/>
                </a:solidFill>
                <a:latin typeface="Calibri" pitchFamily="34" charset="0"/>
                <a:ea typeface="Calibri" pitchFamily="34" charset="-122"/>
                <a:cs typeface="Calibri" pitchFamily="34" charset="-120"/>
              </a:rPr>
              <a:t>Enforce ecological carrying-capacity limits proactively</a:t>
            </a:r>
            <a:endParaRPr lang="en-US" sz="1200" dirty="0"/>
          </a:p>
        </p:txBody>
      </p:sp>
      <p:sp>
        <p:nvSpPr>
          <p:cNvPr id="20"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371"/>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9C5A2E"/>
                </a:solidFill>
                <a:latin typeface="Calibri" pitchFamily="34" charset="0"/>
                <a:ea typeface="Calibri" pitchFamily="34" charset="-122"/>
                <a:cs typeface="Calibri" pitchFamily="34" charset="-120"/>
              </a:rPr>
              <a:t>SUGGESTED AI AGENTS</a:t>
            </a:r>
            <a:endParaRPr lang="en-US" sz="1250" dirty="0"/>
          </a:p>
        </p:txBody>
      </p:sp>
      <p:sp>
        <p:nvSpPr>
          <p:cNvPr id="3" name="Text 1"/>
          <p:cNvSpPr/>
          <p:nvPr/>
        </p:nvSpPr>
        <p:spPr>
          <a:xfrm>
            <a:off x="548640" y="804672"/>
            <a:ext cx="10789920" cy="640080"/>
          </a:xfrm>
          <a:prstGeom prst="rect">
            <a:avLst/>
          </a:prstGeom>
          <a:noFill/>
          <a:ln/>
        </p:spPr>
        <p:txBody>
          <a:bodyPr wrap="square" rtlCol="0" anchor="ctr"/>
          <a:lstStyle/>
          <a:p>
            <a:pPr indent="0" marL="0">
              <a:buNone/>
            </a:pPr>
            <a:r>
              <a:rPr lang="en-US" sz="2700" b="1" dirty="0">
                <a:solidFill>
                  <a:srgbClr val="2B2620"/>
                </a:solidFill>
                <a:latin typeface="Cambria" pitchFamily="34" charset="0"/>
                <a:ea typeface="Cambria" pitchFamily="34" charset="-122"/>
                <a:cs typeface="Cambria" pitchFamily="34" charset="-120"/>
              </a:rPr>
              <a:t>Five agents, one coordinated response</a:t>
            </a:r>
            <a:endParaRPr lang="en-US" sz="2700" dirty="0"/>
          </a:p>
        </p:txBody>
      </p:sp>
      <p:sp>
        <p:nvSpPr>
          <p:cNvPr id="4" name="Text 2"/>
          <p:cNvSpPr/>
          <p:nvPr/>
        </p:nvSpPr>
        <p:spPr>
          <a:xfrm>
            <a:off x="548640" y="1371600"/>
            <a:ext cx="10515600" cy="457200"/>
          </a:xfrm>
          <a:prstGeom prst="rect">
            <a:avLst/>
          </a:prstGeom>
          <a:noFill/>
          <a:ln/>
        </p:spPr>
        <p:txBody>
          <a:bodyPr wrap="square" rtlCol="0" anchor="ctr"/>
          <a:lstStyle/>
          <a:p>
            <a:pPr indent="0" marL="0">
              <a:buNone/>
            </a:pPr>
            <a:r>
              <a:rPr lang="en-US" sz="1300" dirty="0">
                <a:solidFill>
                  <a:srgbClr val="8A8371"/>
                </a:solidFill>
                <a:latin typeface="Calibri" pitchFamily="34" charset="0"/>
                <a:ea typeface="Calibri" pitchFamily="34" charset="-122"/>
                <a:cs typeface="Calibri" pitchFamily="34" charset="-120"/>
              </a:rPr>
              <a:t>Each agent owns a distinct part of the visitor lifecycle — together they form a closed loop from forecasting to on-ground impact.</a:t>
            </a:r>
            <a:endParaRPr lang="en-US" sz="1300" dirty="0"/>
          </a:p>
        </p:txBody>
      </p:sp>
      <p:sp>
        <p:nvSpPr>
          <p:cNvPr id="5" name="Shape 3"/>
          <p:cNvSpPr/>
          <p:nvPr/>
        </p:nvSpPr>
        <p:spPr>
          <a:xfrm>
            <a:off x="548640" y="2148840"/>
            <a:ext cx="2139696" cy="3566160"/>
          </a:xfrm>
          <a:prstGeom prst="roundRect">
            <a:avLst>
              <a:gd name="adj" fmla="val 4274"/>
            </a:avLst>
          </a:prstGeom>
          <a:solidFill>
            <a:srgbClr val="FFFFFF"/>
          </a:solidFill>
          <a:ln w="12700">
            <a:solidFill>
              <a:srgbClr val="E3DCCB"/>
            </a:solidFill>
            <a:prstDash val="solid"/>
          </a:ln>
          <a:effectLst>
            <a:outerShdw sx="100000" sy="100000" kx="0" ky="0" algn="bl" rotWithShape="0" blurRad="101600" dist="38100" dir="5400000">
              <a:srgbClr val="3A3226">
                <a:alpha val="18000"/>
              </a:srgbClr>
            </a:outerShdw>
          </a:effectLst>
        </p:spPr>
      </p:sp>
      <p:sp>
        <p:nvSpPr>
          <p:cNvPr id="6" name="Shape 4"/>
          <p:cNvSpPr/>
          <p:nvPr/>
        </p:nvSpPr>
        <p:spPr>
          <a:xfrm>
            <a:off x="1207008" y="2468880"/>
            <a:ext cx="822960" cy="822960"/>
          </a:xfrm>
          <a:prstGeom prst="ellipse">
            <a:avLst/>
          </a:prstGeom>
          <a:solidFill>
            <a:srgbClr val="9C5A2E"/>
          </a:solidFill>
          <a:ln/>
        </p:spPr>
      </p:sp>
      <p:pic>
        <p:nvPicPr>
          <p:cNvPr id="7" name="Image 0" descr="icons/trending.png">    </p:cNvPr>
          <p:cNvPicPr>
            <a:picLocks noChangeAspect="1"/>
          </p:cNvPicPr>
          <p:nvPr/>
        </p:nvPicPr>
        <p:blipFill>
          <a:blip r:embed="rId1"/>
          <a:stretch>
            <a:fillRect/>
          </a:stretch>
        </p:blipFill>
        <p:spPr>
          <a:xfrm>
            <a:off x="1305763" y="2567635"/>
            <a:ext cx="625450" cy="625450"/>
          </a:xfrm>
          <a:prstGeom prst="rect">
            <a:avLst/>
          </a:prstGeom>
        </p:spPr>
      </p:pic>
      <p:sp>
        <p:nvSpPr>
          <p:cNvPr id="8" name="Text 5"/>
          <p:cNvSpPr/>
          <p:nvPr/>
        </p:nvSpPr>
        <p:spPr>
          <a:xfrm>
            <a:off x="685800" y="2286000"/>
            <a:ext cx="731520" cy="274320"/>
          </a:xfrm>
          <a:prstGeom prst="rect">
            <a:avLst/>
          </a:prstGeom>
          <a:noFill/>
          <a:ln/>
        </p:spPr>
        <p:txBody>
          <a:bodyPr wrap="square" rtlCol="0" anchor="ctr"/>
          <a:lstStyle/>
          <a:p>
            <a:pPr indent="0" marL="0">
              <a:buNone/>
            </a:pPr>
            <a:r>
              <a:rPr lang="en-US" sz="1100" b="1" dirty="0">
                <a:solidFill>
                  <a:srgbClr val="8A8371"/>
                </a:solidFill>
                <a:latin typeface="Calibri" pitchFamily="34" charset="0"/>
                <a:ea typeface="Calibri" pitchFamily="34" charset="-122"/>
                <a:cs typeface="Calibri" pitchFamily="34" charset="-120"/>
              </a:rPr>
              <a:t>01</a:t>
            </a:r>
            <a:endParaRPr lang="en-US" sz="1100" dirty="0"/>
          </a:p>
        </p:txBody>
      </p:sp>
      <p:sp>
        <p:nvSpPr>
          <p:cNvPr id="9" name="Text 6"/>
          <p:cNvSpPr/>
          <p:nvPr/>
        </p:nvSpPr>
        <p:spPr>
          <a:xfrm>
            <a:off x="685800" y="3566160"/>
            <a:ext cx="1865376" cy="1005840"/>
          </a:xfrm>
          <a:prstGeom prst="rect">
            <a:avLst/>
          </a:prstGeom>
          <a:noFill/>
          <a:ln/>
        </p:spPr>
        <p:txBody>
          <a:bodyPr wrap="square" rtlCol="0" anchor="ctr"/>
          <a:lstStyle/>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Tourist Load</a:t>
            </a:r>
            <a:endParaRPr lang="en-US" sz="1350" dirty="0"/>
          </a:p>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Forecasting Agent</a:t>
            </a:r>
            <a:endParaRPr lang="en-US" sz="1350" dirty="0"/>
          </a:p>
        </p:txBody>
      </p:sp>
      <p:sp>
        <p:nvSpPr>
          <p:cNvPr id="10" name="Shape 7"/>
          <p:cNvSpPr/>
          <p:nvPr/>
        </p:nvSpPr>
        <p:spPr>
          <a:xfrm>
            <a:off x="868680" y="4663440"/>
            <a:ext cx="1499616" cy="0"/>
          </a:xfrm>
          <a:prstGeom prst="line">
            <a:avLst/>
          </a:prstGeom>
          <a:noFill/>
          <a:ln w="12700">
            <a:solidFill>
              <a:srgbClr val="E3DCCB"/>
            </a:solidFill>
            <a:prstDash val="solid"/>
          </a:ln>
        </p:spPr>
      </p:sp>
      <p:sp>
        <p:nvSpPr>
          <p:cNvPr id="11" name="Text 8"/>
          <p:cNvSpPr/>
          <p:nvPr/>
        </p:nvSpPr>
        <p:spPr>
          <a:xfrm>
            <a:off x="685800" y="4800600"/>
            <a:ext cx="1865376" cy="365760"/>
          </a:xfrm>
          <a:prstGeom prst="rect">
            <a:avLst/>
          </a:prstGeom>
          <a:noFill/>
          <a:ln/>
        </p:spPr>
        <p:txBody>
          <a:bodyPr wrap="square" rtlCol="0" anchor="ctr"/>
          <a:lstStyle/>
          <a:p>
            <a:pPr algn="ctr" indent="0" marL="0">
              <a:buNone/>
            </a:pPr>
            <a:r>
              <a:rPr lang="en-US" sz="1050" b="1" spc="100" kern="0" dirty="0">
                <a:solidFill>
                  <a:srgbClr val="9C5A2E"/>
                </a:solidFill>
                <a:latin typeface="Calibri" pitchFamily="34" charset="0"/>
                <a:ea typeface="Calibri" pitchFamily="34" charset="-122"/>
                <a:cs typeface="Calibri" pitchFamily="34" charset="-120"/>
              </a:rPr>
              <a:t>Forecast</a:t>
            </a:r>
            <a:endParaRPr lang="en-US" sz="1050" dirty="0"/>
          </a:p>
        </p:txBody>
      </p:sp>
      <p:sp>
        <p:nvSpPr>
          <p:cNvPr id="12" name="Shape 9"/>
          <p:cNvSpPr/>
          <p:nvPr/>
        </p:nvSpPr>
        <p:spPr>
          <a:xfrm>
            <a:off x="2852928" y="2148840"/>
            <a:ext cx="2139696" cy="3566160"/>
          </a:xfrm>
          <a:prstGeom prst="roundRect">
            <a:avLst>
              <a:gd name="adj" fmla="val 4274"/>
            </a:avLst>
          </a:prstGeom>
          <a:solidFill>
            <a:srgbClr val="FFFFFF"/>
          </a:solidFill>
          <a:ln w="12700">
            <a:solidFill>
              <a:srgbClr val="E3DCCB"/>
            </a:solidFill>
            <a:prstDash val="solid"/>
          </a:ln>
          <a:effectLst>
            <a:outerShdw sx="100000" sy="100000" kx="0" ky="0" algn="bl" rotWithShape="0" blurRad="101600" dist="38100" dir="5400000">
              <a:srgbClr val="3A3226">
                <a:alpha val="18000"/>
              </a:srgbClr>
            </a:outerShdw>
          </a:effectLst>
        </p:spPr>
      </p:sp>
      <p:sp>
        <p:nvSpPr>
          <p:cNvPr id="13" name="Shape 10"/>
          <p:cNvSpPr/>
          <p:nvPr/>
        </p:nvSpPr>
        <p:spPr>
          <a:xfrm>
            <a:off x="3511296" y="2468880"/>
            <a:ext cx="822960" cy="822960"/>
          </a:xfrm>
          <a:prstGeom prst="ellipse">
            <a:avLst/>
          </a:prstGeom>
          <a:solidFill>
            <a:srgbClr val="1B2036"/>
          </a:solidFill>
          <a:ln/>
        </p:spPr>
      </p:sp>
      <p:pic>
        <p:nvPicPr>
          <p:cNvPr id="14" name="Image 1" descr="icons/route.png">    </p:cNvPr>
          <p:cNvPicPr>
            <a:picLocks noChangeAspect="1"/>
          </p:cNvPicPr>
          <p:nvPr/>
        </p:nvPicPr>
        <p:blipFill>
          <a:blip r:embed="rId2"/>
          <a:stretch>
            <a:fillRect/>
          </a:stretch>
        </p:blipFill>
        <p:spPr>
          <a:xfrm>
            <a:off x="3610051" y="2567635"/>
            <a:ext cx="625450" cy="625450"/>
          </a:xfrm>
          <a:prstGeom prst="rect">
            <a:avLst/>
          </a:prstGeom>
        </p:spPr>
      </p:pic>
      <p:sp>
        <p:nvSpPr>
          <p:cNvPr id="15" name="Text 11"/>
          <p:cNvSpPr/>
          <p:nvPr/>
        </p:nvSpPr>
        <p:spPr>
          <a:xfrm>
            <a:off x="2990088" y="2286000"/>
            <a:ext cx="731520" cy="274320"/>
          </a:xfrm>
          <a:prstGeom prst="rect">
            <a:avLst/>
          </a:prstGeom>
          <a:noFill/>
          <a:ln/>
        </p:spPr>
        <p:txBody>
          <a:bodyPr wrap="square" rtlCol="0" anchor="ctr"/>
          <a:lstStyle/>
          <a:p>
            <a:pPr indent="0" marL="0">
              <a:buNone/>
            </a:pPr>
            <a:r>
              <a:rPr lang="en-US" sz="1100" b="1" dirty="0">
                <a:solidFill>
                  <a:srgbClr val="8A8371"/>
                </a:solidFill>
                <a:latin typeface="Calibri" pitchFamily="34" charset="0"/>
                <a:ea typeface="Calibri" pitchFamily="34" charset="-122"/>
                <a:cs typeface="Calibri" pitchFamily="34" charset="-120"/>
              </a:rPr>
              <a:t>02</a:t>
            </a:r>
            <a:endParaRPr lang="en-US" sz="1100" dirty="0"/>
          </a:p>
        </p:txBody>
      </p:sp>
      <p:sp>
        <p:nvSpPr>
          <p:cNvPr id="16" name="Text 12"/>
          <p:cNvSpPr/>
          <p:nvPr/>
        </p:nvSpPr>
        <p:spPr>
          <a:xfrm>
            <a:off x="2990088" y="3566160"/>
            <a:ext cx="1865376" cy="1005840"/>
          </a:xfrm>
          <a:prstGeom prst="rect">
            <a:avLst/>
          </a:prstGeom>
          <a:noFill/>
          <a:ln/>
        </p:spPr>
        <p:txBody>
          <a:bodyPr wrap="square" rtlCol="0" anchor="ctr"/>
          <a:lstStyle/>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Sustainable Itinerary</a:t>
            </a:r>
            <a:endParaRPr lang="en-US" sz="1350" dirty="0"/>
          </a:p>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Recommendation Agent</a:t>
            </a:r>
            <a:endParaRPr lang="en-US" sz="1350" dirty="0"/>
          </a:p>
        </p:txBody>
      </p:sp>
      <p:sp>
        <p:nvSpPr>
          <p:cNvPr id="17" name="Shape 13"/>
          <p:cNvSpPr/>
          <p:nvPr/>
        </p:nvSpPr>
        <p:spPr>
          <a:xfrm>
            <a:off x="3172968" y="4663440"/>
            <a:ext cx="1499616" cy="0"/>
          </a:xfrm>
          <a:prstGeom prst="line">
            <a:avLst/>
          </a:prstGeom>
          <a:noFill/>
          <a:ln w="12700">
            <a:solidFill>
              <a:srgbClr val="E3DCCB"/>
            </a:solidFill>
            <a:prstDash val="solid"/>
          </a:ln>
        </p:spPr>
      </p:sp>
      <p:sp>
        <p:nvSpPr>
          <p:cNvPr id="18" name="Text 14"/>
          <p:cNvSpPr/>
          <p:nvPr/>
        </p:nvSpPr>
        <p:spPr>
          <a:xfrm>
            <a:off x="2990088" y="4800600"/>
            <a:ext cx="1865376" cy="365760"/>
          </a:xfrm>
          <a:prstGeom prst="rect">
            <a:avLst/>
          </a:prstGeom>
          <a:noFill/>
          <a:ln/>
        </p:spPr>
        <p:txBody>
          <a:bodyPr wrap="square" rtlCol="0" anchor="ctr"/>
          <a:lstStyle/>
          <a:p>
            <a:pPr algn="ctr" indent="0" marL="0">
              <a:buNone/>
            </a:pPr>
            <a:r>
              <a:rPr lang="en-US" sz="1050" b="1" spc="100" kern="0" dirty="0">
                <a:solidFill>
                  <a:srgbClr val="9C5A2E"/>
                </a:solidFill>
                <a:latin typeface="Calibri" pitchFamily="34" charset="0"/>
                <a:ea typeface="Calibri" pitchFamily="34" charset="-122"/>
                <a:cs typeface="Calibri" pitchFamily="34" charset="-120"/>
              </a:rPr>
              <a:t>Itinerary</a:t>
            </a:r>
            <a:endParaRPr lang="en-US" sz="1050" dirty="0"/>
          </a:p>
        </p:txBody>
      </p:sp>
      <p:sp>
        <p:nvSpPr>
          <p:cNvPr id="19" name="Shape 15"/>
          <p:cNvSpPr/>
          <p:nvPr/>
        </p:nvSpPr>
        <p:spPr>
          <a:xfrm>
            <a:off x="5157216" y="2148840"/>
            <a:ext cx="2139696" cy="3566160"/>
          </a:xfrm>
          <a:prstGeom prst="roundRect">
            <a:avLst>
              <a:gd name="adj" fmla="val 4274"/>
            </a:avLst>
          </a:prstGeom>
          <a:solidFill>
            <a:srgbClr val="FFFFFF"/>
          </a:solidFill>
          <a:ln w="12700">
            <a:solidFill>
              <a:srgbClr val="E3DCCB"/>
            </a:solidFill>
            <a:prstDash val="solid"/>
          </a:ln>
          <a:effectLst>
            <a:outerShdw sx="100000" sy="100000" kx="0" ky="0" algn="bl" rotWithShape="0" blurRad="101600" dist="38100" dir="5400000">
              <a:srgbClr val="3A3226">
                <a:alpha val="18000"/>
              </a:srgbClr>
            </a:outerShdw>
          </a:effectLst>
        </p:spPr>
      </p:sp>
      <p:sp>
        <p:nvSpPr>
          <p:cNvPr id="20" name="Shape 16"/>
          <p:cNvSpPr/>
          <p:nvPr/>
        </p:nvSpPr>
        <p:spPr>
          <a:xfrm>
            <a:off x="5815584" y="2468880"/>
            <a:ext cx="822960" cy="822960"/>
          </a:xfrm>
          <a:prstGeom prst="ellipse">
            <a:avLst/>
          </a:prstGeom>
          <a:solidFill>
            <a:srgbClr val="9C5A2E"/>
          </a:solidFill>
          <a:ln/>
        </p:spPr>
      </p:sp>
      <p:pic>
        <p:nvPicPr>
          <p:cNvPr id="21" name="Image 2" descr="icons/leaf.png">    </p:cNvPr>
          <p:cNvPicPr>
            <a:picLocks noChangeAspect="1"/>
          </p:cNvPicPr>
          <p:nvPr/>
        </p:nvPicPr>
        <p:blipFill>
          <a:blip r:embed="rId3"/>
          <a:stretch>
            <a:fillRect/>
          </a:stretch>
        </p:blipFill>
        <p:spPr>
          <a:xfrm>
            <a:off x="5914339" y="2567635"/>
            <a:ext cx="625450" cy="625450"/>
          </a:xfrm>
          <a:prstGeom prst="rect">
            <a:avLst/>
          </a:prstGeom>
        </p:spPr>
      </p:pic>
      <p:sp>
        <p:nvSpPr>
          <p:cNvPr id="22" name="Text 17"/>
          <p:cNvSpPr/>
          <p:nvPr/>
        </p:nvSpPr>
        <p:spPr>
          <a:xfrm>
            <a:off x="5294376" y="2286000"/>
            <a:ext cx="731520" cy="274320"/>
          </a:xfrm>
          <a:prstGeom prst="rect">
            <a:avLst/>
          </a:prstGeom>
          <a:noFill/>
          <a:ln/>
        </p:spPr>
        <p:txBody>
          <a:bodyPr wrap="square" rtlCol="0" anchor="ctr"/>
          <a:lstStyle/>
          <a:p>
            <a:pPr indent="0" marL="0">
              <a:buNone/>
            </a:pPr>
            <a:r>
              <a:rPr lang="en-US" sz="1100" b="1" dirty="0">
                <a:solidFill>
                  <a:srgbClr val="8A8371"/>
                </a:solidFill>
                <a:latin typeface="Calibri" pitchFamily="34" charset="0"/>
                <a:ea typeface="Calibri" pitchFamily="34" charset="-122"/>
                <a:cs typeface="Calibri" pitchFamily="34" charset="-120"/>
              </a:rPr>
              <a:t>03</a:t>
            </a:r>
            <a:endParaRPr lang="en-US" sz="1100" dirty="0"/>
          </a:p>
        </p:txBody>
      </p:sp>
      <p:sp>
        <p:nvSpPr>
          <p:cNvPr id="23" name="Text 18"/>
          <p:cNvSpPr/>
          <p:nvPr/>
        </p:nvSpPr>
        <p:spPr>
          <a:xfrm>
            <a:off x="5294376" y="3566160"/>
            <a:ext cx="1865376" cy="1005840"/>
          </a:xfrm>
          <a:prstGeom prst="rect">
            <a:avLst/>
          </a:prstGeom>
          <a:noFill/>
          <a:ln/>
        </p:spPr>
        <p:txBody>
          <a:bodyPr wrap="square" rtlCol="0" anchor="ctr"/>
          <a:lstStyle/>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Ecological Carrying</a:t>
            </a:r>
            <a:endParaRPr lang="en-US" sz="1350" dirty="0"/>
          </a:p>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Capacity Agent</a:t>
            </a:r>
            <a:endParaRPr lang="en-US" sz="1350" dirty="0"/>
          </a:p>
        </p:txBody>
      </p:sp>
      <p:sp>
        <p:nvSpPr>
          <p:cNvPr id="24" name="Shape 19"/>
          <p:cNvSpPr/>
          <p:nvPr/>
        </p:nvSpPr>
        <p:spPr>
          <a:xfrm>
            <a:off x="5477256" y="4663440"/>
            <a:ext cx="1499616" cy="0"/>
          </a:xfrm>
          <a:prstGeom prst="line">
            <a:avLst/>
          </a:prstGeom>
          <a:noFill/>
          <a:ln w="12700">
            <a:solidFill>
              <a:srgbClr val="E3DCCB"/>
            </a:solidFill>
            <a:prstDash val="solid"/>
          </a:ln>
        </p:spPr>
      </p:sp>
      <p:sp>
        <p:nvSpPr>
          <p:cNvPr id="25" name="Text 20"/>
          <p:cNvSpPr/>
          <p:nvPr/>
        </p:nvSpPr>
        <p:spPr>
          <a:xfrm>
            <a:off x="5294376" y="4800600"/>
            <a:ext cx="1865376" cy="365760"/>
          </a:xfrm>
          <a:prstGeom prst="rect">
            <a:avLst/>
          </a:prstGeom>
          <a:noFill/>
          <a:ln/>
        </p:spPr>
        <p:txBody>
          <a:bodyPr wrap="square" rtlCol="0" anchor="ctr"/>
          <a:lstStyle/>
          <a:p>
            <a:pPr algn="ctr" indent="0" marL="0">
              <a:buNone/>
            </a:pPr>
            <a:r>
              <a:rPr lang="en-US" sz="1050" b="1" spc="100" kern="0" dirty="0">
                <a:solidFill>
                  <a:srgbClr val="9C5A2E"/>
                </a:solidFill>
                <a:latin typeface="Calibri" pitchFamily="34" charset="0"/>
                <a:ea typeface="Calibri" pitchFamily="34" charset="-122"/>
                <a:cs typeface="Calibri" pitchFamily="34" charset="-120"/>
              </a:rPr>
              <a:t>Ecology</a:t>
            </a:r>
            <a:endParaRPr lang="en-US" sz="1050" dirty="0"/>
          </a:p>
        </p:txBody>
      </p:sp>
      <p:sp>
        <p:nvSpPr>
          <p:cNvPr id="26" name="Shape 21"/>
          <p:cNvSpPr/>
          <p:nvPr/>
        </p:nvSpPr>
        <p:spPr>
          <a:xfrm>
            <a:off x="7461504" y="2148840"/>
            <a:ext cx="2139696" cy="3566160"/>
          </a:xfrm>
          <a:prstGeom prst="roundRect">
            <a:avLst>
              <a:gd name="adj" fmla="val 4274"/>
            </a:avLst>
          </a:prstGeom>
          <a:solidFill>
            <a:srgbClr val="FFFFFF"/>
          </a:solidFill>
          <a:ln w="12700">
            <a:solidFill>
              <a:srgbClr val="E3DCCB"/>
            </a:solidFill>
            <a:prstDash val="solid"/>
          </a:ln>
          <a:effectLst>
            <a:outerShdw sx="100000" sy="100000" kx="0" ky="0" algn="bl" rotWithShape="0" blurRad="101600" dist="38100" dir="5400000">
              <a:srgbClr val="3A3226">
                <a:alpha val="18000"/>
              </a:srgbClr>
            </a:outerShdw>
          </a:effectLst>
        </p:spPr>
      </p:sp>
      <p:sp>
        <p:nvSpPr>
          <p:cNvPr id="27" name="Shape 22"/>
          <p:cNvSpPr/>
          <p:nvPr/>
        </p:nvSpPr>
        <p:spPr>
          <a:xfrm>
            <a:off x="8119872" y="2468880"/>
            <a:ext cx="822960" cy="822960"/>
          </a:xfrm>
          <a:prstGeom prst="ellipse">
            <a:avLst/>
          </a:prstGeom>
          <a:solidFill>
            <a:srgbClr val="1B2036"/>
          </a:solidFill>
          <a:ln/>
        </p:spPr>
      </p:sp>
      <p:pic>
        <p:nvPicPr>
          <p:cNvPr id="28" name="Image 3" descr="icons/handshake.png">    </p:cNvPr>
          <p:cNvPicPr>
            <a:picLocks noChangeAspect="1"/>
          </p:cNvPicPr>
          <p:nvPr/>
        </p:nvPicPr>
        <p:blipFill>
          <a:blip r:embed="rId4"/>
          <a:stretch>
            <a:fillRect/>
          </a:stretch>
        </p:blipFill>
        <p:spPr>
          <a:xfrm>
            <a:off x="8218627" y="2567635"/>
            <a:ext cx="625450" cy="625450"/>
          </a:xfrm>
          <a:prstGeom prst="rect">
            <a:avLst/>
          </a:prstGeom>
        </p:spPr>
      </p:pic>
      <p:sp>
        <p:nvSpPr>
          <p:cNvPr id="29" name="Text 23"/>
          <p:cNvSpPr/>
          <p:nvPr/>
        </p:nvSpPr>
        <p:spPr>
          <a:xfrm>
            <a:off x="7598664" y="2286000"/>
            <a:ext cx="731520" cy="274320"/>
          </a:xfrm>
          <a:prstGeom prst="rect">
            <a:avLst/>
          </a:prstGeom>
          <a:noFill/>
          <a:ln/>
        </p:spPr>
        <p:txBody>
          <a:bodyPr wrap="square" rtlCol="0" anchor="ctr"/>
          <a:lstStyle/>
          <a:p>
            <a:pPr indent="0" marL="0">
              <a:buNone/>
            </a:pPr>
            <a:r>
              <a:rPr lang="en-US" sz="1100" b="1" dirty="0">
                <a:solidFill>
                  <a:srgbClr val="8A8371"/>
                </a:solidFill>
                <a:latin typeface="Calibri" pitchFamily="34" charset="0"/>
                <a:ea typeface="Calibri" pitchFamily="34" charset="-122"/>
                <a:cs typeface="Calibri" pitchFamily="34" charset="-120"/>
              </a:rPr>
              <a:t>04</a:t>
            </a:r>
            <a:endParaRPr lang="en-US" sz="1100" dirty="0"/>
          </a:p>
        </p:txBody>
      </p:sp>
      <p:sp>
        <p:nvSpPr>
          <p:cNvPr id="30" name="Text 24"/>
          <p:cNvSpPr/>
          <p:nvPr/>
        </p:nvSpPr>
        <p:spPr>
          <a:xfrm>
            <a:off x="7598664" y="3566160"/>
            <a:ext cx="1865376" cy="1005840"/>
          </a:xfrm>
          <a:prstGeom prst="rect">
            <a:avLst/>
          </a:prstGeom>
          <a:noFill/>
          <a:ln/>
        </p:spPr>
        <p:txBody>
          <a:bodyPr wrap="square" rtlCol="0" anchor="ctr"/>
          <a:lstStyle/>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Local Artisan &amp;</a:t>
            </a:r>
            <a:endParaRPr lang="en-US" sz="1350" dirty="0"/>
          </a:p>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Community Linkage Agent</a:t>
            </a:r>
            <a:endParaRPr lang="en-US" sz="1350" dirty="0"/>
          </a:p>
        </p:txBody>
      </p:sp>
      <p:sp>
        <p:nvSpPr>
          <p:cNvPr id="31" name="Shape 25"/>
          <p:cNvSpPr/>
          <p:nvPr/>
        </p:nvSpPr>
        <p:spPr>
          <a:xfrm>
            <a:off x="7781544" y="4663440"/>
            <a:ext cx="1499616" cy="0"/>
          </a:xfrm>
          <a:prstGeom prst="line">
            <a:avLst/>
          </a:prstGeom>
          <a:noFill/>
          <a:ln w="12700">
            <a:solidFill>
              <a:srgbClr val="E3DCCB"/>
            </a:solidFill>
            <a:prstDash val="solid"/>
          </a:ln>
        </p:spPr>
      </p:sp>
      <p:sp>
        <p:nvSpPr>
          <p:cNvPr id="32" name="Text 26"/>
          <p:cNvSpPr/>
          <p:nvPr/>
        </p:nvSpPr>
        <p:spPr>
          <a:xfrm>
            <a:off x="7598664" y="4800600"/>
            <a:ext cx="1865376" cy="365760"/>
          </a:xfrm>
          <a:prstGeom prst="rect">
            <a:avLst/>
          </a:prstGeom>
          <a:noFill/>
          <a:ln/>
        </p:spPr>
        <p:txBody>
          <a:bodyPr wrap="square" rtlCol="0" anchor="ctr"/>
          <a:lstStyle/>
          <a:p>
            <a:pPr algn="ctr" indent="0" marL="0">
              <a:buNone/>
            </a:pPr>
            <a:r>
              <a:rPr lang="en-US" sz="1050" b="1" spc="100" kern="0" dirty="0">
                <a:solidFill>
                  <a:srgbClr val="9C5A2E"/>
                </a:solidFill>
                <a:latin typeface="Calibri" pitchFamily="34" charset="0"/>
                <a:ea typeface="Calibri" pitchFamily="34" charset="-122"/>
                <a:cs typeface="Calibri" pitchFamily="34" charset="-120"/>
              </a:rPr>
              <a:t>Community</a:t>
            </a:r>
            <a:endParaRPr lang="en-US" sz="1050" dirty="0"/>
          </a:p>
        </p:txBody>
      </p:sp>
      <p:sp>
        <p:nvSpPr>
          <p:cNvPr id="33" name="Shape 27"/>
          <p:cNvSpPr/>
          <p:nvPr/>
        </p:nvSpPr>
        <p:spPr>
          <a:xfrm>
            <a:off x="9765792" y="2148840"/>
            <a:ext cx="2139696" cy="3566160"/>
          </a:xfrm>
          <a:prstGeom prst="roundRect">
            <a:avLst>
              <a:gd name="adj" fmla="val 4274"/>
            </a:avLst>
          </a:prstGeom>
          <a:solidFill>
            <a:srgbClr val="FFFFFF"/>
          </a:solidFill>
          <a:ln w="12700">
            <a:solidFill>
              <a:srgbClr val="E3DCCB"/>
            </a:solidFill>
            <a:prstDash val="solid"/>
          </a:ln>
          <a:effectLst>
            <a:outerShdw sx="100000" sy="100000" kx="0" ky="0" algn="bl" rotWithShape="0" blurRad="101600" dist="38100" dir="5400000">
              <a:srgbClr val="3A3226">
                <a:alpha val="18000"/>
              </a:srgbClr>
            </a:outerShdw>
          </a:effectLst>
        </p:spPr>
      </p:sp>
      <p:sp>
        <p:nvSpPr>
          <p:cNvPr id="34" name="Shape 28"/>
          <p:cNvSpPr/>
          <p:nvPr/>
        </p:nvSpPr>
        <p:spPr>
          <a:xfrm>
            <a:off x="10424160" y="2468880"/>
            <a:ext cx="822960" cy="822960"/>
          </a:xfrm>
          <a:prstGeom prst="ellipse">
            <a:avLst/>
          </a:prstGeom>
          <a:solidFill>
            <a:srgbClr val="9C5A2E"/>
          </a:solidFill>
          <a:ln/>
        </p:spPr>
      </p:sp>
      <p:pic>
        <p:nvPicPr>
          <p:cNvPr id="35" name="Image 4" descr="icons/dashboard.png">    </p:cNvPr>
          <p:cNvPicPr>
            <a:picLocks noChangeAspect="1"/>
          </p:cNvPicPr>
          <p:nvPr/>
        </p:nvPicPr>
        <p:blipFill>
          <a:blip r:embed="rId5"/>
          <a:stretch>
            <a:fillRect/>
          </a:stretch>
        </p:blipFill>
        <p:spPr>
          <a:xfrm>
            <a:off x="10522915" y="2567635"/>
            <a:ext cx="625450" cy="625450"/>
          </a:xfrm>
          <a:prstGeom prst="rect">
            <a:avLst/>
          </a:prstGeom>
        </p:spPr>
      </p:pic>
      <p:sp>
        <p:nvSpPr>
          <p:cNvPr id="36" name="Text 29"/>
          <p:cNvSpPr/>
          <p:nvPr/>
        </p:nvSpPr>
        <p:spPr>
          <a:xfrm>
            <a:off x="9902952" y="2286000"/>
            <a:ext cx="731520" cy="274320"/>
          </a:xfrm>
          <a:prstGeom prst="rect">
            <a:avLst/>
          </a:prstGeom>
          <a:noFill/>
          <a:ln/>
        </p:spPr>
        <p:txBody>
          <a:bodyPr wrap="square" rtlCol="0" anchor="ctr"/>
          <a:lstStyle/>
          <a:p>
            <a:pPr indent="0" marL="0">
              <a:buNone/>
            </a:pPr>
            <a:r>
              <a:rPr lang="en-US" sz="1100" b="1" dirty="0">
                <a:solidFill>
                  <a:srgbClr val="8A8371"/>
                </a:solidFill>
                <a:latin typeface="Calibri" pitchFamily="34" charset="0"/>
                <a:ea typeface="Calibri" pitchFamily="34" charset="-122"/>
                <a:cs typeface="Calibri" pitchFamily="34" charset="-120"/>
              </a:rPr>
              <a:t>05</a:t>
            </a:r>
            <a:endParaRPr lang="en-US" sz="1100" dirty="0"/>
          </a:p>
        </p:txBody>
      </p:sp>
      <p:sp>
        <p:nvSpPr>
          <p:cNvPr id="37" name="Text 30"/>
          <p:cNvSpPr/>
          <p:nvPr/>
        </p:nvSpPr>
        <p:spPr>
          <a:xfrm>
            <a:off x="9902952" y="3566160"/>
            <a:ext cx="1865376" cy="1005840"/>
          </a:xfrm>
          <a:prstGeom prst="rect">
            <a:avLst/>
          </a:prstGeom>
          <a:noFill/>
          <a:ln/>
        </p:spPr>
        <p:txBody>
          <a:bodyPr wrap="square" rtlCol="0" anchor="ctr"/>
          <a:lstStyle/>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Tourism Impact</a:t>
            </a:r>
            <a:endParaRPr lang="en-US" sz="1350" dirty="0"/>
          </a:p>
          <a:p>
            <a:pPr algn="ctr" indent="0" marL="0">
              <a:lnSpc>
                <a:spcPct val="115000"/>
              </a:lnSpc>
              <a:buNone/>
            </a:pPr>
            <a:r>
              <a:rPr lang="en-US" sz="1350" b="1" dirty="0">
                <a:solidFill>
                  <a:srgbClr val="2B2620"/>
                </a:solidFill>
                <a:latin typeface="Cambria" pitchFamily="34" charset="0"/>
                <a:ea typeface="Cambria" pitchFamily="34" charset="-122"/>
                <a:cs typeface="Cambria" pitchFamily="34" charset="-120"/>
              </a:rPr>
              <a:t>Dashboard Agent</a:t>
            </a:r>
            <a:endParaRPr lang="en-US" sz="1350" dirty="0"/>
          </a:p>
        </p:txBody>
      </p:sp>
      <p:sp>
        <p:nvSpPr>
          <p:cNvPr id="38" name="Shape 31"/>
          <p:cNvSpPr/>
          <p:nvPr/>
        </p:nvSpPr>
        <p:spPr>
          <a:xfrm>
            <a:off x="10085832" y="4663440"/>
            <a:ext cx="1499616" cy="0"/>
          </a:xfrm>
          <a:prstGeom prst="line">
            <a:avLst/>
          </a:prstGeom>
          <a:noFill/>
          <a:ln w="12700">
            <a:solidFill>
              <a:srgbClr val="E3DCCB"/>
            </a:solidFill>
            <a:prstDash val="solid"/>
          </a:ln>
        </p:spPr>
      </p:sp>
      <p:sp>
        <p:nvSpPr>
          <p:cNvPr id="39" name="Text 32"/>
          <p:cNvSpPr/>
          <p:nvPr/>
        </p:nvSpPr>
        <p:spPr>
          <a:xfrm>
            <a:off x="9902952" y="4800600"/>
            <a:ext cx="1865376" cy="365760"/>
          </a:xfrm>
          <a:prstGeom prst="rect">
            <a:avLst/>
          </a:prstGeom>
          <a:noFill/>
          <a:ln/>
        </p:spPr>
        <p:txBody>
          <a:bodyPr wrap="square" rtlCol="0" anchor="ctr"/>
          <a:lstStyle/>
          <a:p>
            <a:pPr algn="ctr" indent="0" marL="0">
              <a:buNone/>
            </a:pPr>
            <a:r>
              <a:rPr lang="en-US" sz="1050" b="1" spc="100" kern="0" dirty="0">
                <a:solidFill>
                  <a:srgbClr val="9C5A2E"/>
                </a:solidFill>
                <a:latin typeface="Calibri" pitchFamily="34" charset="0"/>
                <a:ea typeface="Calibri" pitchFamily="34" charset="-122"/>
                <a:cs typeface="Calibri" pitchFamily="34" charset="-120"/>
              </a:rPr>
              <a:t>Analytics</a:t>
            </a:r>
            <a:endParaRPr lang="en-US" sz="1050" dirty="0"/>
          </a:p>
        </p:txBody>
      </p:sp>
      <p:sp>
        <p:nvSpPr>
          <p:cNvPr id="40" name="Text 33"/>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036"/>
          </a:solidFill>
          <a:ln/>
        </p:spPr>
      </p:sp>
      <p:sp>
        <p:nvSpPr>
          <p:cNvPr id="3" name="Text 1"/>
          <p:cNvSpPr/>
          <p:nvPr/>
        </p:nvSpPr>
        <p:spPr>
          <a:xfrm>
            <a:off x="502920" y="502920"/>
            <a:ext cx="2743200" cy="320040"/>
          </a:xfrm>
          <a:prstGeom prst="rect">
            <a:avLst/>
          </a:prstGeom>
          <a:noFill/>
          <a:ln/>
        </p:spPr>
        <p:txBody>
          <a:bodyPr wrap="square" rtlCol="0" anchor="ctr"/>
          <a:lstStyle/>
          <a:p>
            <a:pPr indent="0" marL="0">
              <a:buNone/>
            </a:pPr>
            <a:r>
              <a:rPr lang="en-US" sz="1200" b="1" spc="200" kern="0" dirty="0">
                <a:solidFill>
                  <a:srgbClr val="E8C989"/>
                </a:solidFill>
                <a:latin typeface="Calibri" pitchFamily="34" charset="0"/>
                <a:ea typeface="Calibri" pitchFamily="34" charset="-122"/>
                <a:cs typeface="Calibri" pitchFamily="34" charset="-120"/>
              </a:rPr>
              <a:t>AGENT 1</a:t>
            </a:r>
            <a:endParaRPr lang="en-US" sz="1200" dirty="0"/>
          </a:p>
        </p:txBody>
      </p:sp>
      <p:sp>
        <p:nvSpPr>
          <p:cNvPr id="4" name="Shape 2"/>
          <p:cNvSpPr/>
          <p:nvPr/>
        </p:nvSpPr>
        <p:spPr>
          <a:xfrm>
            <a:off x="502920" y="960120"/>
            <a:ext cx="1234440" cy="1234440"/>
          </a:xfrm>
          <a:prstGeom prst="ellipse">
            <a:avLst/>
          </a:prstGeom>
          <a:solidFill>
            <a:srgbClr val="9C5A2E"/>
          </a:solidFill>
          <a:ln/>
        </p:spPr>
      </p:sp>
      <p:pic>
        <p:nvPicPr>
          <p:cNvPr id="5" name="Image 0" descr="icons/trending.png">    </p:cNvPr>
          <p:cNvPicPr>
            <a:picLocks noChangeAspect="1"/>
          </p:cNvPicPr>
          <p:nvPr/>
        </p:nvPicPr>
        <p:blipFill>
          <a:blip r:embed="rId1"/>
          <a:stretch>
            <a:fillRect/>
          </a:stretch>
        </p:blipFill>
        <p:spPr>
          <a:xfrm>
            <a:off x="651053" y="1108253"/>
            <a:ext cx="938174" cy="938174"/>
          </a:xfrm>
          <a:prstGeom prst="rect">
            <a:avLst/>
          </a:prstGeom>
        </p:spPr>
      </p:pic>
      <p:sp>
        <p:nvSpPr>
          <p:cNvPr id="6" name="Text 3"/>
          <p:cNvSpPr/>
          <p:nvPr/>
        </p:nvSpPr>
        <p:spPr>
          <a:xfrm>
            <a:off x="502920" y="2423160"/>
            <a:ext cx="3200400" cy="1463040"/>
          </a:xfrm>
          <a:prstGeom prst="rect">
            <a:avLst/>
          </a:prstGeom>
          <a:noFill/>
          <a:ln/>
        </p:spPr>
        <p:txBody>
          <a:bodyPr wrap="square" rtlCol="0" anchor="ctr"/>
          <a:lstStyle/>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Tourist Load</a:t>
            </a:r>
            <a:endParaRPr lang="en-US" sz="2400" dirty="0"/>
          </a:p>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Forecasting Agent</a:t>
            </a:r>
            <a:endParaRPr lang="en-US" sz="2400" dirty="0"/>
          </a:p>
        </p:txBody>
      </p:sp>
      <p:sp>
        <p:nvSpPr>
          <p:cNvPr id="7" name="Text 4"/>
          <p:cNvSpPr/>
          <p:nvPr/>
        </p:nvSpPr>
        <p:spPr>
          <a:xfrm>
            <a:off x="502920" y="3977640"/>
            <a:ext cx="3200400" cy="822960"/>
          </a:xfrm>
          <a:prstGeom prst="rect">
            <a:avLst/>
          </a:prstGeom>
          <a:noFill/>
          <a:ln/>
        </p:spPr>
        <p:txBody>
          <a:bodyPr wrap="square" rtlCol="0" anchor="ctr"/>
          <a:lstStyle/>
          <a:p>
            <a:pPr indent="0" marL="0">
              <a:lnSpc>
                <a:spcPct val="125000"/>
              </a:lnSpc>
              <a:buNone/>
            </a:pPr>
            <a:r>
              <a:rPr lang="en-US" sz="1250" i="1" dirty="0">
                <a:solidFill>
                  <a:srgbClr val="E8C989"/>
                </a:solidFill>
                <a:latin typeface="Calibri" pitchFamily="34" charset="0"/>
                <a:ea typeface="Calibri" pitchFamily="34" charset="-122"/>
                <a:cs typeface="Calibri" pitchFamily="34" charset="-120"/>
              </a:rPr>
              <a:t>Predicts visitor surges before they strain any single site</a:t>
            </a:r>
            <a:endParaRPr lang="en-US" sz="1250" dirty="0"/>
          </a:p>
        </p:txBody>
      </p:sp>
      <p:sp>
        <p:nvSpPr>
          <p:cNvPr id="8" name="Shape 5"/>
          <p:cNvSpPr/>
          <p:nvPr/>
        </p:nvSpPr>
        <p:spPr>
          <a:xfrm>
            <a:off x="502920" y="4937760"/>
            <a:ext cx="1280160" cy="0"/>
          </a:xfrm>
          <a:prstGeom prst="line">
            <a:avLst/>
          </a:prstGeom>
          <a:noFill/>
          <a:ln w="19050">
            <a:solidFill>
              <a:srgbClr val="E8C989"/>
            </a:solidFill>
            <a:prstDash val="solid"/>
          </a:ln>
        </p:spPr>
      </p:sp>
      <p:sp>
        <p:nvSpPr>
          <p:cNvPr id="9" name="Text 6"/>
          <p:cNvSpPr/>
          <p:nvPr/>
        </p:nvSpPr>
        <p:spPr>
          <a:xfrm>
            <a:off x="502920" y="5120640"/>
            <a:ext cx="3200400" cy="1371600"/>
          </a:xfrm>
          <a:prstGeom prst="rect">
            <a:avLst/>
          </a:prstGeom>
          <a:noFill/>
          <a:ln/>
        </p:spPr>
        <p:txBody>
          <a:bodyPr wrap="square" rtlCol="0" anchor="ctr"/>
          <a:lstStyle/>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INPUTS</a:t>
            </a:r>
            <a:endParaRPr lang="en-US" sz="1050" dirty="0"/>
          </a:p>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Historical footfall · hotel &amp; permit bookings · search trends · weather · festival calendar</a:t>
            </a:r>
            <a:endParaRPr lang="en-US" sz="1050" dirty="0"/>
          </a:p>
        </p:txBody>
      </p:sp>
      <p:sp>
        <p:nvSpPr>
          <p:cNvPr id="10" name="Text 7"/>
          <p:cNvSpPr/>
          <p:nvPr/>
        </p:nvSpPr>
        <p:spPr>
          <a:xfrm>
            <a:off x="4434840" y="54864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What it does</a:t>
            </a:r>
            <a:endParaRPr lang="en-US" sz="1250" dirty="0"/>
          </a:p>
        </p:txBody>
      </p:sp>
      <p:sp>
        <p:nvSpPr>
          <p:cNvPr id="11" name="Text 8"/>
          <p:cNvSpPr/>
          <p:nvPr/>
        </p:nvSpPr>
        <p:spPr>
          <a:xfrm>
            <a:off x="4434840" y="914400"/>
            <a:ext cx="7132320" cy="1234440"/>
          </a:xfrm>
          <a:prstGeom prst="rect">
            <a:avLst/>
          </a:prstGeom>
          <a:noFill/>
          <a:ln/>
        </p:spPr>
        <p:txBody>
          <a:bodyPr wrap="square" rtlCol="0" anchor="ctr"/>
          <a:lstStyle/>
          <a:p>
            <a:pPr indent="0" marL="0">
              <a:lnSpc>
                <a:spcPct val="135000"/>
              </a:lnSpc>
              <a:buNone/>
            </a:pPr>
            <a:r>
              <a:rPr lang="en-US" sz="1400" dirty="0">
                <a:solidFill>
                  <a:srgbClr val="2B2620"/>
                </a:solidFill>
                <a:latin typeface="Calibri" pitchFamily="34" charset="0"/>
                <a:ea typeface="Calibri" pitchFamily="34" charset="-122"/>
                <a:cs typeface="Calibri" pitchFamily="34" charset="-120"/>
              </a:rPr>
              <a:t>Continuously forecasts inbound tourist volume across Rann Utsav venues and Kutch's key circuits, blending seasonality, event calendars, bookings and search-demand signals so authorities can act ahead of a surge rather than during one.</a:t>
            </a:r>
            <a:endParaRPr lang="en-US" sz="1400" dirty="0"/>
          </a:p>
        </p:txBody>
      </p:sp>
      <p:sp>
        <p:nvSpPr>
          <p:cNvPr id="12" name="Text 9"/>
          <p:cNvSpPr/>
          <p:nvPr/>
        </p:nvSpPr>
        <p:spPr>
          <a:xfrm>
            <a:off x="4434840" y="228600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Key capabilities</a:t>
            </a:r>
            <a:endParaRPr lang="en-US" sz="1250" dirty="0"/>
          </a:p>
        </p:txBody>
      </p:sp>
      <p:sp>
        <p:nvSpPr>
          <p:cNvPr id="13" name="Shape 10"/>
          <p:cNvSpPr/>
          <p:nvPr/>
        </p:nvSpPr>
        <p:spPr>
          <a:xfrm>
            <a:off x="4434840" y="2779776"/>
            <a:ext cx="128016" cy="128016"/>
          </a:xfrm>
          <a:prstGeom prst="ellipse">
            <a:avLst/>
          </a:prstGeom>
          <a:solidFill>
            <a:srgbClr val="9C5A2E"/>
          </a:solidFill>
          <a:ln/>
        </p:spPr>
      </p:sp>
      <p:sp>
        <p:nvSpPr>
          <p:cNvPr id="14" name="Text 11"/>
          <p:cNvSpPr/>
          <p:nvPr/>
        </p:nvSpPr>
        <p:spPr>
          <a:xfrm>
            <a:off x="4709160" y="2642616"/>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Multi-horizon forecasts (daily / weekly / festival-peak) by site and route</a:t>
            </a:r>
            <a:endParaRPr lang="en-US" sz="1300" dirty="0"/>
          </a:p>
        </p:txBody>
      </p:sp>
      <p:sp>
        <p:nvSpPr>
          <p:cNvPr id="15" name="Shape 12"/>
          <p:cNvSpPr/>
          <p:nvPr/>
        </p:nvSpPr>
        <p:spPr>
          <a:xfrm>
            <a:off x="4434840" y="3438144"/>
            <a:ext cx="128016" cy="128016"/>
          </a:xfrm>
          <a:prstGeom prst="ellipse">
            <a:avLst/>
          </a:prstGeom>
          <a:solidFill>
            <a:srgbClr val="9C5A2E"/>
          </a:solidFill>
          <a:ln/>
        </p:spPr>
      </p:sp>
      <p:sp>
        <p:nvSpPr>
          <p:cNvPr id="16" name="Text 13"/>
          <p:cNvSpPr/>
          <p:nvPr/>
        </p:nvSpPr>
        <p:spPr>
          <a:xfrm>
            <a:off x="4709160" y="3300984"/>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Blends booking data, weather, holidays and social search trends</a:t>
            </a:r>
            <a:endParaRPr lang="en-US" sz="1300" dirty="0"/>
          </a:p>
        </p:txBody>
      </p:sp>
      <p:sp>
        <p:nvSpPr>
          <p:cNvPr id="17" name="Shape 14"/>
          <p:cNvSpPr/>
          <p:nvPr/>
        </p:nvSpPr>
        <p:spPr>
          <a:xfrm>
            <a:off x="4434840" y="4096512"/>
            <a:ext cx="128016" cy="128016"/>
          </a:xfrm>
          <a:prstGeom prst="ellipse">
            <a:avLst/>
          </a:prstGeom>
          <a:solidFill>
            <a:srgbClr val="9C5A2E"/>
          </a:solidFill>
          <a:ln/>
        </p:spPr>
      </p:sp>
      <p:sp>
        <p:nvSpPr>
          <p:cNvPr id="18" name="Text 15"/>
          <p:cNvSpPr/>
          <p:nvPr/>
        </p:nvSpPr>
        <p:spPr>
          <a:xfrm>
            <a:off x="4709160" y="3959352"/>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Flags early-warning thresholds for near-capacity venues</a:t>
            </a:r>
            <a:endParaRPr lang="en-US" sz="1300" dirty="0"/>
          </a:p>
        </p:txBody>
      </p:sp>
      <p:sp>
        <p:nvSpPr>
          <p:cNvPr id="19" name="Shape 16"/>
          <p:cNvSpPr/>
          <p:nvPr/>
        </p:nvSpPr>
        <p:spPr>
          <a:xfrm>
            <a:off x="4434840" y="4754880"/>
            <a:ext cx="128016" cy="128016"/>
          </a:xfrm>
          <a:prstGeom prst="ellipse">
            <a:avLst/>
          </a:prstGeom>
          <a:solidFill>
            <a:srgbClr val="9C5A2E"/>
          </a:solidFill>
          <a:ln/>
        </p:spPr>
      </p:sp>
      <p:sp>
        <p:nvSpPr>
          <p:cNvPr id="20" name="Text 17"/>
          <p:cNvSpPr/>
          <p:nvPr/>
        </p:nvSpPr>
        <p:spPr>
          <a:xfrm>
            <a:off x="4709160" y="4617720"/>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Feeds real-time alerts to transport, lodging and site-management teams</a:t>
            </a:r>
            <a:endParaRPr lang="en-US" sz="1300" dirty="0"/>
          </a:p>
        </p:txBody>
      </p:sp>
      <p:sp>
        <p:nvSpPr>
          <p:cNvPr id="21"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036"/>
          </a:solidFill>
          <a:ln/>
        </p:spPr>
      </p:sp>
      <p:sp>
        <p:nvSpPr>
          <p:cNvPr id="3" name="Text 1"/>
          <p:cNvSpPr/>
          <p:nvPr/>
        </p:nvSpPr>
        <p:spPr>
          <a:xfrm>
            <a:off x="502920" y="502920"/>
            <a:ext cx="2743200" cy="320040"/>
          </a:xfrm>
          <a:prstGeom prst="rect">
            <a:avLst/>
          </a:prstGeom>
          <a:noFill/>
          <a:ln/>
        </p:spPr>
        <p:txBody>
          <a:bodyPr wrap="square" rtlCol="0" anchor="ctr"/>
          <a:lstStyle/>
          <a:p>
            <a:pPr indent="0" marL="0">
              <a:buNone/>
            </a:pPr>
            <a:r>
              <a:rPr lang="en-US" sz="1200" b="1" spc="200" kern="0" dirty="0">
                <a:solidFill>
                  <a:srgbClr val="E8C989"/>
                </a:solidFill>
                <a:latin typeface="Calibri" pitchFamily="34" charset="0"/>
                <a:ea typeface="Calibri" pitchFamily="34" charset="-122"/>
                <a:cs typeface="Calibri" pitchFamily="34" charset="-120"/>
              </a:rPr>
              <a:t>AGENT 2</a:t>
            </a:r>
            <a:endParaRPr lang="en-US" sz="1200" dirty="0"/>
          </a:p>
        </p:txBody>
      </p:sp>
      <p:sp>
        <p:nvSpPr>
          <p:cNvPr id="4" name="Shape 2"/>
          <p:cNvSpPr/>
          <p:nvPr/>
        </p:nvSpPr>
        <p:spPr>
          <a:xfrm>
            <a:off x="502920" y="960120"/>
            <a:ext cx="1234440" cy="1234440"/>
          </a:xfrm>
          <a:prstGeom prst="ellipse">
            <a:avLst/>
          </a:prstGeom>
          <a:solidFill>
            <a:srgbClr val="9C5A2E"/>
          </a:solidFill>
          <a:ln/>
        </p:spPr>
      </p:sp>
      <p:pic>
        <p:nvPicPr>
          <p:cNvPr id="5" name="Image 0" descr="icons/route.png">    </p:cNvPr>
          <p:cNvPicPr>
            <a:picLocks noChangeAspect="1"/>
          </p:cNvPicPr>
          <p:nvPr/>
        </p:nvPicPr>
        <p:blipFill>
          <a:blip r:embed="rId1"/>
          <a:stretch>
            <a:fillRect/>
          </a:stretch>
        </p:blipFill>
        <p:spPr>
          <a:xfrm>
            <a:off x="651053" y="1108253"/>
            <a:ext cx="938174" cy="938174"/>
          </a:xfrm>
          <a:prstGeom prst="rect">
            <a:avLst/>
          </a:prstGeom>
        </p:spPr>
      </p:pic>
      <p:sp>
        <p:nvSpPr>
          <p:cNvPr id="6" name="Text 3"/>
          <p:cNvSpPr/>
          <p:nvPr/>
        </p:nvSpPr>
        <p:spPr>
          <a:xfrm>
            <a:off x="502920" y="2423160"/>
            <a:ext cx="3200400" cy="1463040"/>
          </a:xfrm>
          <a:prstGeom prst="rect">
            <a:avLst/>
          </a:prstGeom>
          <a:noFill/>
          <a:ln/>
        </p:spPr>
        <p:txBody>
          <a:bodyPr wrap="square" rtlCol="0" anchor="ctr"/>
          <a:lstStyle/>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Sustainable Itinerary</a:t>
            </a:r>
            <a:endParaRPr lang="en-US" sz="2400" dirty="0"/>
          </a:p>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Recommendation Agent</a:t>
            </a:r>
            <a:endParaRPr lang="en-US" sz="2400" dirty="0"/>
          </a:p>
        </p:txBody>
      </p:sp>
      <p:sp>
        <p:nvSpPr>
          <p:cNvPr id="7" name="Text 4"/>
          <p:cNvSpPr/>
          <p:nvPr/>
        </p:nvSpPr>
        <p:spPr>
          <a:xfrm>
            <a:off x="502920" y="3977640"/>
            <a:ext cx="3200400" cy="822960"/>
          </a:xfrm>
          <a:prstGeom prst="rect">
            <a:avLst/>
          </a:prstGeom>
          <a:noFill/>
          <a:ln/>
        </p:spPr>
        <p:txBody>
          <a:bodyPr wrap="square" rtlCol="0" anchor="ctr"/>
          <a:lstStyle/>
          <a:p>
            <a:pPr indent="0" marL="0">
              <a:lnSpc>
                <a:spcPct val="125000"/>
              </a:lnSpc>
              <a:buNone/>
            </a:pPr>
            <a:r>
              <a:rPr lang="en-US" sz="1250" i="1" dirty="0">
                <a:solidFill>
                  <a:srgbClr val="E8C989"/>
                </a:solidFill>
                <a:latin typeface="Calibri" pitchFamily="34" charset="0"/>
                <a:ea typeface="Calibri" pitchFamily="34" charset="-122"/>
                <a:cs typeface="Calibri" pitchFamily="34" charset="-120"/>
              </a:rPr>
              <a:t>Steers travelers toward balanced, lesser-known circuits</a:t>
            </a:r>
            <a:endParaRPr lang="en-US" sz="1250" dirty="0"/>
          </a:p>
        </p:txBody>
      </p:sp>
      <p:sp>
        <p:nvSpPr>
          <p:cNvPr id="8" name="Shape 5"/>
          <p:cNvSpPr/>
          <p:nvPr/>
        </p:nvSpPr>
        <p:spPr>
          <a:xfrm>
            <a:off x="502920" y="4937760"/>
            <a:ext cx="1280160" cy="0"/>
          </a:xfrm>
          <a:prstGeom prst="line">
            <a:avLst/>
          </a:prstGeom>
          <a:noFill/>
          <a:ln w="19050">
            <a:solidFill>
              <a:srgbClr val="E8C989"/>
            </a:solidFill>
            <a:prstDash val="solid"/>
          </a:ln>
        </p:spPr>
      </p:sp>
      <p:sp>
        <p:nvSpPr>
          <p:cNvPr id="9" name="Text 6"/>
          <p:cNvSpPr/>
          <p:nvPr/>
        </p:nvSpPr>
        <p:spPr>
          <a:xfrm>
            <a:off x="502920" y="5120640"/>
            <a:ext cx="3200400" cy="1371600"/>
          </a:xfrm>
          <a:prstGeom prst="rect">
            <a:avLst/>
          </a:prstGeom>
          <a:noFill/>
          <a:ln/>
        </p:spPr>
        <p:txBody>
          <a:bodyPr wrap="square" rtlCol="0" anchor="ctr"/>
          <a:lstStyle/>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INPUTS</a:t>
            </a:r>
            <a:endParaRPr lang="en-US" sz="1050" dirty="0"/>
          </a:p>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Site popularity &amp; crowding data · traveler preferences · seasonal ecological calendar</a:t>
            </a:r>
            <a:endParaRPr lang="en-US" sz="1050" dirty="0"/>
          </a:p>
        </p:txBody>
      </p:sp>
      <p:sp>
        <p:nvSpPr>
          <p:cNvPr id="10" name="Text 7"/>
          <p:cNvSpPr/>
          <p:nvPr/>
        </p:nvSpPr>
        <p:spPr>
          <a:xfrm>
            <a:off x="4434840" y="54864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What it does</a:t>
            </a:r>
            <a:endParaRPr lang="en-US" sz="1250" dirty="0"/>
          </a:p>
        </p:txBody>
      </p:sp>
      <p:sp>
        <p:nvSpPr>
          <p:cNvPr id="11" name="Text 8"/>
          <p:cNvSpPr/>
          <p:nvPr/>
        </p:nvSpPr>
        <p:spPr>
          <a:xfrm>
            <a:off x="4434840" y="914400"/>
            <a:ext cx="7132320" cy="1234440"/>
          </a:xfrm>
          <a:prstGeom prst="rect">
            <a:avLst/>
          </a:prstGeom>
          <a:noFill/>
          <a:ln/>
        </p:spPr>
        <p:txBody>
          <a:bodyPr wrap="square" rtlCol="0" anchor="ctr"/>
          <a:lstStyle/>
          <a:p>
            <a:pPr indent="0" marL="0">
              <a:lnSpc>
                <a:spcPct val="135000"/>
              </a:lnSpc>
              <a:buNone/>
            </a:pPr>
            <a:r>
              <a:rPr lang="en-US" sz="1400" dirty="0">
                <a:solidFill>
                  <a:srgbClr val="2B2620"/>
                </a:solidFill>
                <a:latin typeface="Calibri" pitchFamily="34" charset="0"/>
                <a:ea typeface="Calibri" pitchFamily="34" charset="-122"/>
                <a:cs typeface="Calibri" pitchFamily="34" charset="-120"/>
              </a:rPr>
              <a:t>Recommends personalized, sustainability-scored itineraries that spread demand across Kutch — surfacing quieter villages, craft clusters and wildlife circuits as compelling alternatives to the most crowded Rann Utsav hotspots.</a:t>
            </a:r>
            <a:endParaRPr lang="en-US" sz="1400" dirty="0"/>
          </a:p>
        </p:txBody>
      </p:sp>
      <p:sp>
        <p:nvSpPr>
          <p:cNvPr id="12" name="Text 9"/>
          <p:cNvSpPr/>
          <p:nvPr/>
        </p:nvSpPr>
        <p:spPr>
          <a:xfrm>
            <a:off x="4434840" y="228600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Key capabilities</a:t>
            </a:r>
            <a:endParaRPr lang="en-US" sz="1250" dirty="0"/>
          </a:p>
        </p:txBody>
      </p:sp>
      <p:sp>
        <p:nvSpPr>
          <p:cNvPr id="13" name="Shape 10"/>
          <p:cNvSpPr/>
          <p:nvPr/>
        </p:nvSpPr>
        <p:spPr>
          <a:xfrm>
            <a:off x="4434840" y="2779776"/>
            <a:ext cx="128016" cy="128016"/>
          </a:xfrm>
          <a:prstGeom prst="ellipse">
            <a:avLst/>
          </a:prstGeom>
          <a:solidFill>
            <a:srgbClr val="9C5A2E"/>
          </a:solidFill>
          <a:ln/>
        </p:spPr>
      </p:sp>
      <p:sp>
        <p:nvSpPr>
          <p:cNvPr id="14" name="Text 11"/>
          <p:cNvSpPr/>
          <p:nvPr/>
        </p:nvSpPr>
        <p:spPr>
          <a:xfrm>
            <a:off x="4709160" y="2642616"/>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Generates itineraries scored on crowding, season and ecological load</a:t>
            </a:r>
            <a:endParaRPr lang="en-US" sz="1300" dirty="0"/>
          </a:p>
        </p:txBody>
      </p:sp>
      <p:sp>
        <p:nvSpPr>
          <p:cNvPr id="15" name="Shape 12"/>
          <p:cNvSpPr/>
          <p:nvPr/>
        </p:nvSpPr>
        <p:spPr>
          <a:xfrm>
            <a:off x="4434840" y="3438144"/>
            <a:ext cx="128016" cy="128016"/>
          </a:xfrm>
          <a:prstGeom prst="ellipse">
            <a:avLst/>
          </a:prstGeom>
          <a:solidFill>
            <a:srgbClr val="9C5A2E"/>
          </a:solidFill>
          <a:ln/>
        </p:spPr>
      </p:sp>
      <p:sp>
        <p:nvSpPr>
          <p:cNvPr id="16" name="Text 13"/>
          <p:cNvSpPr/>
          <p:nvPr/>
        </p:nvSpPr>
        <p:spPr>
          <a:xfrm>
            <a:off x="4709160" y="3300984"/>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Surfaces lesser-known sites: Banni grasslands, craft villages, forts</a:t>
            </a:r>
            <a:endParaRPr lang="en-US" sz="1300" dirty="0"/>
          </a:p>
        </p:txBody>
      </p:sp>
      <p:sp>
        <p:nvSpPr>
          <p:cNvPr id="17" name="Shape 14"/>
          <p:cNvSpPr/>
          <p:nvPr/>
        </p:nvSpPr>
        <p:spPr>
          <a:xfrm>
            <a:off x="4434840" y="4096512"/>
            <a:ext cx="128016" cy="128016"/>
          </a:xfrm>
          <a:prstGeom prst="ellipse">
            <a:avLst/>
          </a:prstGeom>
          <a:solidFill>
            <a:srgbClr val="9C5A2E"/>
          </a:solidFill>
          <a:ln/>
        </p:spPr>
      </p:sp>
      <p:sp>
        <p:nvSpPr>
          <p:cNvPr id="18" name="Text 15"/>
          <p:cNvSpPr/>
          <p:nvPr/>
        </p:nvSpPr>
        <p:spPr>
          <a:xfrm>
            <a:off x="4709160" y="3959352"/>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Adapts recommendations in response to live load forecasts</a:t>
            </a:r>
            <a:endParaRPr lang="en-US" sz="1300" dirty="0"/>
          </a:p>
        </p:txBody>
      </p:sp>
      <p:sp>
        <p:nvSpPr>
          <p:cNvPr id="19" name="Shape 16"/>
          <p:cNvSpPr/>
          <p:nvPr/>
        </p:nvSpPr>
        <p:spPr>
          <a:xfrm>
            <a:off x="4434840" y="4754880"/>
            <a:ext cx="128016" cy="128016"/>
          </a:xfrm>
          <a:prstGeom prst="ellipse">
            <a:avLst/>
          </a:prstGeom>
          <a:solidFill>
            <a:srgbClr val="9C5A2E"/>
          </a:solidFill>
          <a:ln/>
        </p:spPr>
      </p:sp>
      <p:sp>
        <p:nvSpPr>
          <p:cNvPr id="20" name="Text 17"/>
          <p:cNvSpPr/>
          <p:nvPr/>
        </p:nvSpPr>
        <p:spPr>
          <a:xfrm>
            <a:off x="4709160" y="4617720"/>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Personalizes by traveler interest, group size and trip duration</a:t>
            </a:r>
            <a:endParaRPr lang="en-US" sz="1300" dirty="0"/>
          </a:p>
        </p:txBody>
      </p:sp>
      <p:sp>
        <p:nvSpPr>
          <p:cNvPr id="21"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036"/>
          </a:solidFill>
          <a:ln/>
        </p:spPr>
      </p:sp>
      <p:sp>
        <p:nvSpPr>
          <p:cNvPr id="3" name="Text 1"/>
          <p:cNvSpPr/>
          <p:nvPr/>
        </p:nvSpPr>
        <p:spPr>
          <a:xfrm>
            <a:off x="502920" y="502920"/>
            <a:ext cx="2743200" cy="320040"/>
          </a:xfrm>
          <a:prstGeom prst="rect">
            <a:avLst/>
          </a:prstGeom>
          <a:noFill/>
          <a:ln/>
        </p:spPr>
        <p:txBody>
          <a:bodyPr wrap="square" rtlCol="0" anchor="ctr"/>
          <a:lstStyle/>
          <a:p>
            <a:pPr indent="0" marL="0">
              <a:buNone/>
            </a:pPr>
            <a:r>
              <a:rPr lang="en-US" sz="1200" b="1" spc="200" kern="0" dirty="0">
                <a:solidFill>
                  <a:srgbClr val="E8C989"/>
                </a:solidFill>
                <a:latin typeface="Calibri" pitchFamily="34" charset="0"/>
                <a:ea typeface="Calibri" pitchFamily="34" charset="-122"/>
                <a:cs typeface="Calibri" pitchFamily="34" charset="-120"/>
              </a:rPr>
              <a:t>AGENT 3</a:t>
            </a:r>
            <a:endParaRPr lang="en-US" sz="1200" dirty="0"/>
          </a:p>
        </p:txBody>
      </p:sp>
      <p:sp>
        <p:nvSpPr>
          <p:cNvPr id="4" name="Shape 2"/>
          <p:cNvSpPr/>
          <p:nvPr/>
        </p:nvSpPr>
        <p:spPr>
          <a:xfrm>
            <a:off x="502920" y="960120"/>
            <a:ext cx="1234440" cy="1234440"/>
          </a:xfrm>
          <a:prstGeom prst="ellipse">
            <a:avLst/>
          </a:prstGeom>
          <a:solidFill>
            <a:srgbClr val="9C5A2E"/>
          </a:solidFill>
          <a:ln/>
        </p:spPr>
      </p:sp>
      <p:pic>
        <p:nvPicPr>
          <p:cNvPr id="5" name="Image 0" descr="icons/leaf.png">    </p:cNvPr>
          <p:cNvPicPr>
            <a:picLocks noChangeAspect="1"/>
          </p:cNvPicPr>
          <p:nvPr/>
        </p:nvPicPr>
        <p:blipFill>
          <a:blip r:embed="rId1"/>
          <a:stretch>
            <a:fillRect/>
          </a:stretch>
        </p:blipFill>
        <p:spPr>
          <a:xfrm>
            <a:off x="651053" y="1108253"/>
            <a:ext cx="938174" cy="938174"/>
          </a:xfrm>
          <a:prstGeom prst="rect">
            <a:avLst/>
          </a:prstGeom>
        </p:spPr>
      </p:pic>
      <p:sp>
        <p:nvSpPr>
          <p:cNvPr id="6" name="Text 3"/>
          <p:cNvSpPr/>
          <p:nvPr/>
        </p:nvSpPr>
        <p:spPr>
          <a:xfrm>
            <a:off x="502920" y="2423160"/>
            <a:ext cx="3200400" cy="1463040"/>
          </a:xfrm>
          <a:prstGeom prst="rect">
            <a:avLst/>
          </a:prstGeom>
          <a:noFill/>
          <a:ln/>
        </p:spPr>
        <p:txBody>
          <a:bodyPr wrap="square" rtlCol="0" anchor="ctr"/>
          <a:lstStyle/>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Ecological Carrying</a:t>
            </a:r>
            <a:endParaRPr lang="en-US" sz="2400" dirty="0"/>
          </a:p>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Capacity Agent</a:t>
            </a:r>
            <a:endParaRPr lang="en-US" sz="2400" dirty="0"/>
          </a:p>
        </p:txBody>
      </p:sp>
      <p:sp>
        <p:nvSpPr>
          <p:cNvPr id="7" name="Text 4"/>
          <p:cNvSpPr/>
          <p:nvPr/>
        </p:nvSpPr>
        <p:spPr>
          <a:xfrm>
            <a:off x="502920" y="3977640"/>
            <a:ext cx="3200400" cy="822960"/>
          </a:xfrm>
          <a:prstGeom prst="rect">
            <a:avLst/>
          </a:prstGeom>
          <a:noFill/>
          <a:ln/>
        </p:spPr>
        <p:txBody>
          <a:bodyPr wrap="square" rtlCol="0" anchor="ctr"/>
          <a:lstStyle/>
          <a:p>
            <a:pPr indent="0" marL="0">
              <a:lnSpc>
                <a:spcPct val="125000"/>
              </a:lnSpc>
              <a:buNone/>
            </a:pPr>
            <a:r>
              <a:rPr lang="en-US" sz="1250" i="1" dirty="0">
                <a:solidFill>
                  <a:srgbClr val="E8C989"/>
                </a:solidFill>
                <a:latin typeface="Calibri" pitchFamily="34" charset="0"/>
                <a:ea typeface="Calibri" pitchFamily="34" charset="-122"/>
                <a:cs typeface="Calibri" pitchFamily="34" charset="-120"/>
              </a:rPr>
              <a:t>Sets and enforces sustainable limits for sensitive zones</a:t>
            </a:r>
            <a:endParaRPr lang="en-US" sz="1250" dirty="0"/>
          </a:p>
        </p:txBody>
      </p:sp>
      <p:sp>
        <p:nvSpPr>
          <p:cNvPr id="8" name="Shape 5"/>
          <p:cNvSpPr/>
          <p:nvPr/>
        </p:nvSpPr>
        <p:spPr>
          <a:xfrm>
            <a:off x="502920" y="4937760"/>
            <a:ext cx="1280160" cy="0"/>
          </a:xfrm>
          <a:prstGeom prst="line">
            <a:avLst/>
          </a:prstGeom>
          <a:noFill/>
          <a:ln w="19050">
            <a:solidFill>
              <a:srgbClr val="E8C989"/>
            </a:solidFill>
            <a:prstDash val="solid"/>
          </a:ln>
        </p:spPr>
      </p:sp>
      <p:sp>
        <p:nvSpPr>
          <p:cNvPr id="9" name="Text 6"/>
          <p:cNvSpPr/>
          <p:nvPr/>
        </p:nvSpPr>
        <p:spPr>
          <a:xfrm>
            <a:off x="502920" y="5120640"/>
            <a:ext cx="3200400" cy="1371600"/>
          </a:xfrm>
          <a:prstGeom prst="rect">
            <a:avLst/>
          </a:prstGeom>
          <a:noFill/>
          <a:ln/>
        </p:spPr>
        <p:txBody>
          <a:bodyPr wrap="square" rtlCol="0" anchor="ctr"/>
          <a:lstStyle/>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INPUTS</a:t>
            </a:r>
            <a:endParaRPr lang="en-US" sz="1050" dirty="0"/>
          </a:p>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Groundwater levels · salt-flat &amp; wildlife sensitivity data · live visitor counts · satellite imagery</a:t>
            </a:r>
            <a:endParaRPr lang="en-US" sz="1050" dirty="0"/>
          </a:p>
        </p:txBody>
      </p:sp>
      <p:sp>
        <p:nvSpPr>
          <p:cNvPr id="10" name="Text 7"/>
          <p:cNvSpPr/>
          <p:nvPr/>
        </p:nvSpPr>
        <p:spPr>
          <a:xfrm>
            <a:off x="4434840" y="54864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What it does</a:t>
            </a:r>
            <a:endParaRPr lang="en-US" sz="1250" dirty="0"/>
          </a:p>
        </p:txBody>
      </p:sp>
      <p:sp>
        <p:nvSpPr>
          <p:cNvPr id="11" name="Text 8"/>
          <p:cNvSpPr/>
          <p:nvPr/>
        </p:nvSpPr>
        <p:spPr>
          <a:xfrm>
            <a:off x="4434840" y="914400"/>
            <a:ext cx="7132320" cy="1234440"/>
          </a:xfrm>
          <a:prstGeom prst="rect">
            <a:avLst/>
          </a:prstGeom>
          <a:noFill/>
          <a:ln/>
        </p:spPr>
        <p:txBody>
          <a:bodyPr wrap="square" rtlCol="0" anchor="ctr"/>
          <a:lstStyle/>
          <a:p>
            <a:pPr indent="0" marL="0">
              <a:lnSpc>
                <a:spcPct val="135000"/>
              </a:lnSpc>
              <a:buNone/>
            </a:pPr>
            <a:r>
              <a:rPr lang="en-US" sz="1400" dirty="0">
                <a:solidFill>
                  <a:srgbClr val="2B2620"/>
                </a:solidFill>
                <a:latin typeface="Calibri" pitchFamily="34" charset="0"/>
                <a:ea typeface="Calibri" pitchFamily="34" charset="-122"/>
                <a:cs typeface="Calibri" pitchFamily="34" charset="-120"/>
              </a:rPr>
              <a:t>Models the ecological carrying capacity of the white salt desert, wetlands and grasslands, converting environmental science into concrete, enforceable visitor thresholds that adapt to season and site condition.</a:t>
            </a:r>
            <a:endParaRPr lang="en-US" sz="1400" dirty="0"/>
          </a:p>
        </p:txBody>
      </p:sp>
      <p:sp>
        <p:nvSpPr>
          <p:cNvPr id="12" name="Text 9"/>
          <p:cNvSpPr/>
          <p:nvPr/>
        </p:nvSpPr>
        <p:spPr>
          <a:xfrm>
            <a:off x="4434840" y="228600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Key capabilities</a:t>
            </a:r>
            <a:endParaRPr lang="en-US" sz="1250" dirty="0"/>
          </a:p>
        </p:txBody>
      </p:sp>
      <p:sp>
        <p:nvSpPr>
          <p:cNvPr id="13" name="Shape 10"/>
          <p:cNvSpPr/>
          <p:nvPr/>
        </p:nvSpPr>
        <p:spPr>
          <a:xfrm>
            <a:off x="4434840" y="2779776"/>
            <a:ext cx="128016" cy="128016"/>
          </a:xfrm>
          <a:prstGeom prst="ellipse">
            <a:avLst/>
          </a:prstGeom>
          <a:solidFill>
            <a:srgbClr val="9C5A2E"/>
          </a:solidFill>
          <a:ln/>
        </p:spPr>
      </p:sp>
      <p:sp>
        <p:nvSpPr>
          <p:cNvPr id="14" name="Text 11"/>
          <p:cNvSpPr/>
          <p:nvPr/>
        </p:nvSpPr>
        <p:spPr>
          <a:xfrm>
            <a:off x="4709160" y="2642616"/>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Computes per-site capacity limits from ecological &amp; water-stress data</a:t>
            </a:r>
            <a:endParaRPr lang="en-US" sz="1300" dirty="0"/>
          </a:p>
        </p:txBody>
      </p:sp>
      <p:sp>
        <p:nvSpPr>
          <p:cNvPr id="15" name="Shape 12"/>
          <p:cNvSpPr/>
          <p:nvPr/>
        </p:nvSpPr>
        <p:spPr>
          <a:xfrm>
            <a:off x="4434840" y="3438144"/>
            <a:ext cx="128016" cy="128016"/>
          </a:xfrm>
          <a:prstGeom prst="ellipse">
            <a:avLst/>
          </a:prstGeom>
          <a:solidFill>
            <a:srgbClr val="9C5A2E"/>
          </a:solidFill>
          <a:ln/>
        </p:spPr>
      </p:sp>
      <p:sp>
        <p:nvSpPr>
          <p:cNvPr id="16" name="Text 13"/>
          <p:cNvSpPr/>
          <p:nvPr/>
        </p:nvSpPr>
        <p:spPr>
          <a:xfrm>
            <a:off x="4709160" y="3300984"/>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Monitors real-time visitor counts against those thresholds</a:t>
            </a:r>
            <a:endParaRPr lang="en-US" sz="1300" dirty="0"/>
          </a:p>
        </p:txBody>
      </p:sp>
      <p:sp>
        <p:nvSpPr>
          <p:cNvPr id="17" name="Shape 14"/>
          <p:cNvSpPr/>
          <p:nvPr/>
        </p:nvSpPr>
        <p:spPr>
          <a:xfrm>
            <a:off x="4434840" y="4096512"/>
            <a:ext cx="128016" cy="128016"/>
          </a:xfrm>
          <a:prstGeom prst="ellipse">
            <a:avLst/>
          </a:prstGeom>
          <a:solidFill>
            <a:srgbClr val="9C5A2E"/>
          </a:solidFill>
          <a:ln/>
        </p:spPr>
      </p:sp>
      <p:sp>
        <p:nvSpPr>
          <p:cNvPr id="18" name="Text 15"/>
          <p:cNvSpPr/>
          <p:nvPr/>
        </p:nvSpPr>
        <p:spPr>
          <a:xfrm>
            <a:off x="4709160" y="3959352"/>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Triggers access controls or rerouting when limits are approached</a:t>
            </a:r>
            <a:endParaRPr lang="en-US" sz="1300" dirty="0"/>
          </a:p>
        </p:txBody>
      </p:sp>
      <p:sp>
        <p:nvSpPr>
          <p:cNvPr id="19" name="Shape 16"/>
          <p:cNvSpPr/>
          <p:nvPr/>
        </p:nvSpPr>
        <p:spPr>
          <a:xfrm>
            <a:off x="4434840" y="4754880"/>
            <a:ext cx="128016" cy="128016"/>
          </a:xfrm>
          <a:prstGeom prst="ellipse">
            <a:avLst/>
          </a:prstGeom>
          <a:solidFill>
            <a:srgbClr val="9C5A2E"/>
          </a:solidFill>
          <a:ln/>
        </p:spPr>
      </p:sp>
      <p:sp>
        <p:nvSpPr>
          <p:cNvPr id="20" name="Text 17"/>
          <p:cNvSpPr/>
          <p:nvPr/>
        </p:nvSpPr>
        <p:spPr>
          <a:xfrm>
            <a:off x="4709160" y="4617720"/>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Tracks recovery indicators for previously stressed zones</a:t>
            </a:r>
            <a:endParaRPr lang="en-US" sz="1300" dirty="0"/>
          </a:p>
        </p:txBody>
      </p:sp>
      <p:sp>
        <p:nvSpPr>
          <p:cNvPr id="21"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036"/>
          </a:solidFill>
          <a:ln/>
        </p:spPr>
      </p:sp>
      <p:sp>
        <p:nvSpPr>
          <p:cNvPr id="3" name="Text 1"/>
          <p:cNvSpPr/>
          <p:nvPr/>
        </p:nvSpPr>
        <p:spPr>
          <a:xfrm>
            <a:off x="502920" y="502920"/>
            <a:ext cx="2743200" cy="320040"/>
          </a:xfrm>
          <a:prstGeom prst="rect">
            <a:avLst/>
          </a:prstGeom>
          <a:noFill/>
          <a:ln/>
        </p:spPr>
        <p:txBody>
          <a:bodyPr wrap="square" rtlCol="0" anchor="ctr"/>
          <a:lstStyle/>
          <a:p>
            <a:pPr indent="0" marL="0">
              <a:buNone/>
            </a:pPr>
            <a:r>
              <a:rPr lang="en-US" sz="1200" b="1" spc="200" kern="0" dirty="0">
                <a:solidFill>
                  <a:srgbClr val="E8C989"/>
                </a:solidFill>
                <a:latin typeface="Calibri" pitchFamily="34" charset="0"/>
                <a:ea typeface="Calibri" pitchFamily="34" charset="-122"/>
                <a:cs typeface="Calibri" pitchFamily="34" charset="-120"/>
              </a:rPr>
              <a:t>AGENT 4</a:t>
            </a:r>
            <a:endParaRPr lang="en-US" sz="1200" dirty="0"/>
          </a:p>
        </p:txBody>
      </p:sp>
      <p:sp>
        <p:nvSpPr>
          <p:cNvPr id="4" name="Shape 2"/>
          <p:cNvSpPr/>
          <p:nvPr/>
        </p:nvSpPr>
        <p:spPr>
          <a:xfrm>
            <a:off x="502920" y="960120"/>
            <a:ext cx="1234440" cy="1234440"/>
          </a:xfrm>
          <a:prstGeom prst="ellipse">
            <a:avLst/>
          </a:prstGeom>
          <a:solidFill>
            <a:srgbClr val="9C5A2E"/>
          </a:solidFill>
          <a:ln/>
        </p:spPr>
      </p:sp>
      <p:pic>
        <p:nvPicPr>
          <p:cNvPr id="5" name="Image 0" descr="icons/handshake.png">    </p:cNvPr>
          <p:cNvPicPr>
            <a:picLocks noChangeAspect="1"/>
          </p:cNvPicPr>
          <p:nvPr/>
        </p:nvPicPr>
        <p:blipFill>
          <a:blip r:embed="rId1"/>
          <a:stretch>
            <a:fillRect/>
          </a:stretch>
        </p:blipFill>
        <p:spPr>
          <a:xfrm>
            <a:off x="651053" y="1108253"/>
            <a:ext cx="938174" cy="938174"/>
          </a:xfrm>
          <a:prstGeom prst="rect">
            <a:avLst/>
          </a:prstGeom>
        </p:spPr>
      </p:pic>
      <p:sp>
        <p:nvSpPr>
          <p:cNvPr id="6" name="Text 3"/>
          <p:cNvSpPr/>
          <p:nvPr/>
        </p:nvSpPr>
        <p:spPr>
          <a:xfrm>
            <a:off x="502920" y="2423160"/>
            <a:ext cx="3200400" cy="1463040"/>
          </a:xfrm>
          <a:prstGeom prst="rect">
            <a:avLst/>
          </a:prstGeom>
          <a:noFill/>
          <a:ln/>
        </p:spPr>
        <p:txBody>
          <a:bodyPr wrap="square" rtlCol="0" anchor="ctr"/>
          <a:lstStyle/>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Local Artisan &amp; Community</a:t>
            </a:r>
            <a:endParaRPr lang="en-US" sz="2400" dirty="0"/>
          </a:p>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Linkage Agent</a:t>
            </a:r>
            <a:endParaRPr lang="en-US" sz="2400" dirty="0"/>
          </a:p>
        </p:txBody>
      </p:sp>
      <p:sp>
        <p:nvSpPr>
          <p:cNvPr id="7" name="Text 4"/>
          <p:cNvSpPr/>
          <p:nvPr/>
        </p:nvSpPr>
        <p:spPr>
          <a:xfrm>
            <a:off x="502920" y="3977640"/>
            <a:ext cx="3200400" cy="822960"/>
          </a:xfrm>
          <a:prstGeom prst="rect">
            <a:avLst/>
          </a:prstGeom>
          <a:noFill/>
          <a:ln/>
        </p:spPr>
        <p:txBody>
          <a:bodyPr wrap="square" rtlCol="0" anchor="ctr"/>
          <a:lstStyle/>
          <a:p>
            <a:pPr indent="0" marL="0">
              <a:lnSpc>
                <a:spcPct val="125000"/>
              </a:lnSpc>
              <a:buNone/>
            </a:pPr>
            <a:r>
              <a:rPr lang="en-US" sz="1250" i="1" dirty="0">
                <a:solidFill>
                  <a:srgbClr val="E8C989"/>
                </a:solidFill>
                <a:latin typeface="Calibri" pitchFamily="34" charset="0"/>
                <a:ea typeface="Calibri" pitchFamily="34" charset="-122"/>
                <a:cs typeface="Calibri" pitchFamily="34" charset="-120"/>
              </a:rPr>
              <a:t>Turns dispersed tourism into local livelihoods</a:t>
            </a:r>
            <a:endParaRPr lang="en-US" sz="1250" dirty="0"/>
          </a:p>
        </p:txBody>
      </p:sp>
      <p:sp>
        <p:nvSpPr>
          <p:cNvPr id="8" name="Shape 5"/>
          <p:cNvSpPr/>
          <p:nvPr/>
        </p:nvSpPr>
        <p:spPr>
          <a:xfrm>
            <a:off x="502920" y="4937760"/>
            <a:ext cx="1280160" cy="0"/>
          </a:xfrm>
          <a:prstGeom prst="line">
            <a:avLst/>
          </a:prstGeom>
          <a:noFill/>
          <a:ln w="19050">
            <a:solidFill>
              <a:srgbClr val="E8C989"/>
            </a:solidFill>
            <a:prstDash val="solid"/>
          </a:ln>
        </p:spPr>
      </p:sp>
      <p:sp>
        <p:nvSpPr>
          <p:cNvPr id="9" name="Text 6"/>
          <p:cNvSpPr/>
          <p:nvPr/>
        </p:nvSpPr>
        <p:spPr>
          <a:xfrm>
            <a:off x="502920" y="5120640"/>
            <a:ext cx="3200400" cy="1371600"/>
          </a:xfrm>
          <a:prstGeom prst="rect">
            <a:avLst/>
          </a:prstGeom>
          <a:noFill/>
          <a:ln/>
        </p:spPr>
        <p:txBody>
          <a:bodyPr wrap="square" rtlCol="0" anchor="ctr"/>
          <a:lstStyle/>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INPUTS</a:t>
            </a:r>
            <a:endParaRPr lang="en-US" sz="1050" dirty="0"/>
          </a:p>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Artisan &amp; homestay directories · community capacity data · itinerary routes</a:t>
            </a:r>
            <a:endParaRPr lang="en-US" sz="1050" dirty="0"/>
          </a:p>
        </p:txBody>
      </p:sp>
      <p:sp>
        <p:nvSpPr>
          <p:cNvPr id="10" name="Text 7"/>
          <p:cNvSpPr/>
          <p:nvPr/>
        </p:nvSpPr>
        <p:spPr>
          <a:xfrm>
            <a:off x="4434840" y="54864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What it does</a:t>
            </a:r>
            <a:endParaRPr lang="en-US" sz="1250" dirty="0"/>
          </a:p>
        </p:txBody>
      </p:sp>
      <p:sp>
        <p:nvSpPr>
          <p:cNvPr id="11" name="Text 8"/>
          <p:cNvSpPr/>
          <p:nvPr/>
        </p:nvSpPr>
        <p:spPr>
          <a:xfrm>
            <a:off x="4434840" y="914400"/>
            <a:ext cx="7132320" cy="1234440"/>
          </a:xfrm>
          <a:prstGeom prst="rect">
            <a:avLst/>
          </a:prstGeom>
          <a:noFill/>
          <a:ln/>
        </p:spPr>
        <p:txBody>
          <a:bodyPr wrap="square" rtlCol="0" anchor="ctr"/>
          <a:lstStyle/>
          <a:p>
            <a:pPr indent="0" marL="0">
              <a:lnSpc>
                <a:spcPct val="135000"/>
              </a:lnSpc>
              <a:buNone/>
            </a:pPr>
            <a:r>
              <a:rPr lang="en-US" sz="1400" dirty="0">
                <a:solidFill>
                  <a:srgbClr val="2B2620"/>
                </a:solidFill>
                <a:latin typeface="Calibri" pitchFamily="34" charset="0"/>
                <a:ea typeface="Calibri" pitchFamily="34" charset="-122"/>
                <a:cs typeface="Calibri" pitchFamily="34" charset="-120"/>
              </a:rPr>
              <a:t>Connects recommended itineraries directly to Kutch's artisan communities and homestays, routing footfall and revenue toward Rann of Kutch's famed craftspeople rather than concentrating it around a handful of central venues.</a:t>
            </a:r>
            <a:endParaRPr lang="en-US" sz="1400" dirty="0"/>
          </a:p>
        </p:txBody>
      </p:sp>
      <p:sp>
        <p:nvSpPr>
          <p:cNvPr id="12" name="Text 9"/>
          <p:cNvSpPr/>
          <p:nvPr/>
        </p:nvSpPr>
        <p:spPr>
          <a:xfrm>
            <a:off x="4434840" y="228600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Key capabilities</a:t>
            </a:r>
            <a:endParaRPr lang="en-US" sz="1250" dirty="0"/>
          </a:p>
        </p:txBody>
      </p:sp>
      <p:sp>
        <p:nvSpPr>
          <p:cNvPr id="13" name="Shape 10"/>
          <p:cNvSpPr/>
          <p:nvPr/>
        </p:nvSpPr>
        <p:spPr>
          <a:xfrm>
            <a:off x="4434840" y="2779776"/>
            <a:ext cx="128016" cy="128016"/>
          </a:xfrm>
          <a:prstGeom prst="ellipse">
            <a:avLst/>
          </a:prstGeom>
          <a:solidFill>
            <a:srgbClr val="9C5A2E"/>
          </a:solidFill>
          <a:ln/>
        </p:spPr>
      </p:sp>
      <p:sp>
        <p:nvSpPr>
          <p:cNvPr id="14" name="Text 11"/>
          <p:cNvSpPr/>
          <p:nvPr/>
        </p:nvSpPr>
        <p:spPr>
          <a:xfrm>
            <a:off x="4709160" y="2642616"/>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Maps and recommends verified artisan clusters &amp; homestays en route</a:t>
            </a:r>
            <a:endParaRPr lang="en-US" sz="1300" dirty="0"/>
          </a:p>
        </p:txBody>
      </p:sp>
      <p:sp>
        <p:nvSpPr>
          <p:cNvPr id="15" name="Shape 12"/>
          <p:cNvSpPr/>
          <p:nvPr/>
        </p:nvSpPr>
        <p:spPr>
          <a:xfrm>
            <a:off x="4434840" y="3438144"/>
            <a:ext cx="128016" cy="128016"/>
          </a:xfrm>
          <a:prstGeom prst="ellipse">
            <a:avLst/>
          </a:prstGeom>
          <a:solidFill>
            <a:srgbClr val="9C5A2E"/>
          </a:solidFill>
          <a:ln/>
        </p:spPr>
      </p:sp>
      <p:sp>
        <p:nvSpPr>
          <p:cNvPr id="16" name="Text 13"/>
          <p:cNvSpPr/>
          <p:nvPr/>
        </p:nvSpPr>
        <p:spPr>
          <a:xfrm>
            <a:off x="4709160" y="3300984"/>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Balances footfall across communities to avoid over-tourism hotspots</a:t>
            </a:r>
            <a:endParaRPr lang="en-US" sz="1300" dirty="0"/>
          </a:p>
        </p:txBody>
      </p:sp>
      <p:sp>
        <p:nvSpPr>
          <p:cNvPr id="17" name="Shape 14"/>
          <p:cNvSpPr/>
          <p:nvPr/>
        </p:nvSpPr>
        <p:spPr>
          <a:xfrm>
            <a:off x="4434840" y="4096512"/>
            <a:ext cx="128016" cy="128016"/>
          </a:xfrm>
          <a:prstGeom prst="ellipse">
            <a:avLst/>
          </a:prstGeom>
          <a:solidFill>
            <a:srgbClr val="9C5A2E"/>
          </a:solidFill>
          <a:ln/>
        </p:spPr>
      </p:sp>
      <p:sp>
        <p:nvSpPr>
          <p:cNvPr id="18" name="Text 15"/>
          <p:cNvSpPr/>
          <p:nvPr/>
        </p:nvSpPr>
        <p:spPr>
          <a:xfrm>
            <a:off x="4709160" y="3959352"/>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Surfaces authentic craft, cuisine and cultural experiences</a:t>
            </a:r>
            <a:endParaRPr lang="en-US" sz="1300" dirty="0"/>
          </a:p>
        </p:txBody>
      </p:sp>
      <p:sp>
        <p:nvSpPr>
          <p:cNvPr id="19" name="Shape 16"/>
          <p:cNvSpPr/>
          <p:nvPr/>
        </p:nvSpPr>
        <p:spPr>
          <a:xfrm>
            <a:off x="4434840" y="4754880"/>
            <a:ext cx="128016" cy="128016"/>
          </a:xfrm>
          <a:prstGeom prst="ellipse">
            <a:avLst/>
          </a:prstGeom>
          <a:solidFill>
            <a:srgbClr val="9C5A2E"/>
          </a:solidFill>
          <a:ln/>
        </p:spPr>
      </p:sp>
      <p:sp>
        <p:nvSpPr>
          <p:cNvPr id="20" name="Text 17"/>
          <p:cNvSpPr/>
          <p:nvPr/>
        </p:nvSpPr>
        <p:spPr>
          <a:xfrm>
            <a:off x="4709160" y="4617720"/>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Shares demand forecasts with communities to help them prepare</a:t>
            </a:r>
            <a:endParaRPr lang="en-US" sz="1300" dirty="0"/>
          </a:p>
        </p:txBody>
      </p:sp>
      <p:sp>
        <p:nvSpPr>
          <p:cNvPr id="21"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E"/>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B2036"/>
          </a:solidFill>
          <a:ln/>
        </p:spPr>
      </p:sp>
      <p:sp>
        <p:nvSpPr>
          <p:cNvPr id="3" name="Text 1"/>
          <p:cNvSpPr/>
          <p:nvPr/>
        </p:nvSpPr>
        <p:spPr>
          <a:xfrm>
            <a:off x="502920" y="502920"/>
            <a:ext cx="2743200" cy="320040"/>
          </a:xfrm>
          <a:prstGeom prst="rect">
            <a:avLst/>
          </a:prstGeom>
          <a:noFill/>
          <a:ln/>
        </p:spPr>
        <p:txBody>
          <a:bodyPr wrap="square" rtlCol="0" anchor="ctr"/>
          <a:lstStyle/>
          <a:p>
            <a:pPr indent="0" marL="0">
              <a:buNone/>
            </a:pPr>
            <a:r>
              <a:rPr lang="en-US" sz="1200" b="1" spc="200" kern="0" dirty="0">
                <a:solidFill>
                  <a:srgbClr val="E8C989"/>
                </a:solidFill>
                <a:latin typeface="Calibri" pitchFamily="34" charset="0"/>
                <a:ea typeface="Calibri" pitchFamily="34" charset="-122"/>
                <a:cs typeface="Calibri" pitchFamily="34" charset="-120"/>
              </a:rPr>
              <a:t>AGENT 5</a:t>
            </a:r>
            <a:endParaRPr lang="en-US" sz="1200" dirty="0"/>
          </a:p>
        </p:txBody>
      </p:sp>
      <p:sp>
        <p:nvSpPr>
          <p:cNvPr id="4" name="Shape 2"/>
          <p:cNvSpPr/>
          <p:nvPr/>
        </p:nvSpPr>
        <p:spPr>
          <a:xfrm>
            <a:off x="502920" y="960120"/>
            <a:ext cx="1234440" cy="1234440"/>
          </a:xfrm>
          <a:prstGeom prst="ellipse">
            <a:avLst/>
          </a:prstGeom>
          <a:solidFill>
            <a:srgbClr val="9C5A2E"/>
          </a:solidFill>
          <a:ln/>
        </p:spPr>
      </p:sp>
      <p:pic>
        <p:nvPicPr>
          <p:cNvPr id="5" name="Image 0" descr="icons/dashboard.png">    </p:cNvPr>
          <p:cNvPicPr>
            <a:picLocks noChangeAspect="1"/>
          </p:cNvPicPr>
          <p:nvPr/>
        </p:nvPicPr>
        <p:blipFill>
          <a:blip r:embed="rId1"/>
          <a:stretch>
            <a:fillRect/>
          </a:stretch>
        </p:blipFill>
        <p:spPr>
          <a:xfrm>
            <a:off x="651053" y="1108253"/>
            <a:ext cx="938174" cy="938174"/>
          </a:xfrm>
          <a:prstGeom prst="rect">
            <a:avLst/>
          </a:prstGeom>
        </p:spPr>
      </p:pic>
      <p:sp>
        <p:nvSpPr>
          <p:cNvPr id="6" name="Text 3"/>
          <p:cNvSpPr/>
          <p:nvPr/>
        </p:nvSpPr>
        <p:spPr>
          <a:xfrm>
            <a:off x="502920" y="2423160"/>
            <a:ext cx="3200400" cy="1463040"/>
          </a:xfrm>
          <a:prstGeom prst="rect">
            <a:avLst/>
          </a:prstGeom>
          <a:noFill/>
          <a:ln/>
        </p:spPr>
        <p:txBody>
          <a:bodyPr wrap="square" rtlCol="0" anchor="ctr"/>
          <a:lstStyle/>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Tourism Impact</a:t>
            </a:r>
            <a:endParaRPr lang="en-US" sz="2400" dirty="0"/>
          </a:p>
          <a:p>
            <a:pPr indent="0" marL="0">
              <a:lnSpc>
                <a:spcPct val="115000"/>
              </a:lnSpc>
              <a:buNone/>
            </a:pPr>
            <a:r>
              <a:rPr lang="en-US" sz="2400" b="1" dirty="0">
                <a:solidFill>
                  <a:srgbClr val="FFFFFF"/>
                </a:solidFill>
                <a:latin typeface="Cambria" pitchFamily="34" charset="0"/>
                <a:ea typeface="Cambria" pitchFamily="34" charset="-122"/>
                <a:cs typeface="Cambria" pitchFamily="34" charset="-120"/>
              </a:rPr>
              <a:t>Dashboard Agent</a:t>
            </a:r>
            <a:endParaRPr lang="en-US" sz="2400" dirty="0"/>
          </a:p>
        </p:txBody>
      </p:sp>
      <p:sp>
        <p:nvSpPr>
          <p:cNvPr id="7" name="Text 4"/>
          <p:cNvSpPr/>
          <p:nvPr/>
        </p:nvSpPr>
        <p:spPr>
          <a:xfrm>
            <a:off x="502920" y="3977640"/>
            <a:ext cx="3200400" cy="822960"/>
          </a:xfrm>
          <a:prstGeom prst="rect">
            <a:avLst/>
          </a:prstGeom>
          <a:noFill/>
          <a:ln/>
        </p:spPr>
        <p:txBody>
          <a:bodyPr wrap="square" rtlCol="0" anchor="ctr"/>
          <a:lstStyle/>
          <a:p>
            <a:pPr indent="0" marL="0">
              <a:lnSpc>
                <a:spcPct val="125000"/>
              </a:lnSpc>
              <a:buNone/>
            </a:pPr>
            <a:r>
              <a:rPr lang="en-US" sz="1250" i="1" dirty="0">
                <a:solidFill>
                  <a:srgbClr val="E8C989"/>
                </a:solidFill>
                <a:latin typeface="Calibri" pitchFamily="34" charset="0"/>
                <a:ea typeface="Calibri" pitchFamily="34" charset="-122"/>
                <a:cs typeface="Calibri" pitchFamily="34" charset="-120"/>
              </a:rPr>
              <a:t>Gives decision-makers one live view of the whole system</a:t>
            </a:r>
            <a:endParaRPr lang="en-US" sz="1250" dirty="0"/>
          </a:p>
        </p:txBody>
      </p:sp>
      <p:sp>
        <p:nvSpPr>
          <p:cNvPr id="8" name="Shape 5"/>
          <p:cNvSpPr/>
          <p:nvPr/>
        </p:nvSpPr>
        <p:spPr>
          <a:xfrm>
            <a:off x="502920" y="4937760"/>
            <a:ext cx="1280160" cy="0"/>
          </a:xfrm>
          <a:prstGeom prst="line">
            <a:avLst/>
          </a:prstGeom>
          <a:noFill/>
          <a:ln w="19050">
            <a:solidFill>
              <a:srgbClr val="E8C989"/>
            </a:solidFill>
            <a:prstDash val="solid"/>
          </a:ln>
        </p:spPr>
      </p:sp>
      <p:sp>
        <p:nvSpPr>
          <p:cNvPr id="9" name="Text 6"/>
          <p:cNvSpPr/>
          <p:nvPr/>
        </p:nvSpPr>
        <p:spPr>
          <a:xfrm>
            <a:off x="502920" y="5120640"/>
            <a:ext cx="3200400" cy="1371600"/>
          </a:xfrm>
          <a:prstGeom prst="rect">
            <a:avLst/>
          </a:prstGeom>
          <a:noFill/>
          <a:ln/>
        </p:spPr>
        <p:txBody>
          <a:bodyPr wrap="square" rtlCol="0" anchor="ctr"/>
          <a:lstStyle/>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INPUTS</a:t>
            </a:r>
            <a:endParaRPr lang="en-US" sz="1050" dirty="0"/>
          </a:p>
          <a:p>
            <a:pPr indent="0" marL="0">
              <a:lnSpc>
                <a:spcPct val="130000"/>
              </a:lnSpc>
              <a:buNone/>
            </a:pPr>
            <a:r>
              <a:rPr lang="en-US" sz="1050" dirty="0">
                <a:solidFill>
                  <a:srgbClr val="B7AFA0"/>
                </a:solidFill>
                <a:latin typeface="Calibri" pitchFamily="34" charset="0"/>
                <a:ea typeface="Calibri" pitchFamily="34" charset="-122"/>
                <a:cs typeface="Calibri" pitchFamily="34" charset="-120"/>
              </a:rPr>
              <a:t>Outputs from all four agents · policy thresholds · historical performance data</a:t>
            </a:r>
            <a:endParaRPr lang="en-US" sz="1050" dirty="0"/>
          </a:p>
        </p:txBody>
      </p:sp>
      <p:sp>
        <p:nvSpPr>
          <p:cNvPr id="10" name="Text 7"/>
          <p:cNvSpPr/>
          <p:nvPr/>
        </p:nvSpPr>
        <p:spPr>
          <a:xfrm>
            <a:off x="4434840" y="54864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What it does</a:t>
            </a:r>
            <a:endParaRPr lang="en-US" sz="1250" dirty="0"/>
          </a:p>
        </p:txBody>
      </p:sp>
      <p:sp>
        <p:nvSpPr>
          <p:cNvPr id="11" name="Text 8"/>
          <p:cNvSpPr/>
          <p:nvPr/>
        </p:nvSpPr>
        <p:spPr>
          <a:xfrm>
            <a:off x="4434840" y="914400"/>
            <a:ext cx="7132320" cy="1234440"/>
          </a:xfrm>
          <a:prstGeom prst="rect">
            <a:avLst/>
          </a:prstGeom>
          <a:noFill/>
          <a:ln/>
        </p:spPr>
        <p:txBody>
          <a:bodyPr wrap="square" rtlCol="0" anchor="ctr"/>
          <a:lstStyle/>
          <a:p>
            <a:pPr indent="0" marL="0">
              <a:lnSpc>
                <a:spcPct val="135000"/>
              </a:lnSpc>
              <a:buNone/>
            </a:pPr>
            <a:r>
              <a:rPr lang="en-US" sz="1400" dirty="0">
                <a:solidFill>
                  <a:srgbClr val="2B2620"/>
                </a:solidFill>
                <a:latin typeface="Calibri" pitchFamily="34" charset="0"/>
                <a:ea typeface="Calibri" pitchFamily="34" charset="-122"/>
                <a:cs typeface="Calibri" pitchFamily="34" charset="-120"/>
              </a:rPr>
              <a:t>Aggregates outputs from every other agent into a single command view for tourism authorities — visitor load, ecological stress, community impact and itinerary uptake — enabling fast, informed policy and operational decisions.</a:t>
            </a:r>
            <a:endParaRPr lang="en-US" sz="1400" dirty="0"/>
          </a:p>
        </p:txBody>
      </p:sp>
      <p:sp>
        <p:nvSpPr>
          <p:cNvPr id="12" name="Text 9"/>
          <p:cNvSpPr/>
          <p:nvPr/>
        </p:nvSpPr>
        <p:spPr>
          <a:xfrm>
            <a:off x="4434840" y="2286000"/>
            <a:ext cx="7132320" cy="365760"/>
          </a:xfrm>
          <a:prstGeom prst="rect">
            <a:avLst/>
          </a:prstGeom>
          <a:noFill/>
          <a:ln/>
        </p:spPr>
        <p:txBody>
          <a:bodyPr wrap="square" rtlCol="0" anchor="ctr"/>
          <a:lstStyle/>
          <a:p>
            <a:pPr indent="0" marL="0">
              <a:buNone/>
            </a:pPr>
            <a:r>
              <a:rPr lang="en-US" sz="1250" b="1" spc="150" kern="0" dirty="0">
                <a:solidFill>
                  <a:srgbClr val="9C5A2E"/>
                </a:solidFill>
                <a:latin typeface="Calibri" pitchFamily="34" charset="0"/>
                <a:ea typeface="Calibri" pitchFamily="34" charset="-122"/>
                <a:cs typeface="Calibri" pitchFamily="34" charset="-120"/>
              </a:rPr>
              <a:t>Key capabilities</a:t>
            </a:r>
            <a:endParaRPr lang="en-US" sz="1250" dirty="0"/>
          </a:p>
        </p:txBody>
      </p:sp>
      <p:sp>
        <p:nvSpPr>
          <p:cNvPr id="13" name="Shape 10"/>
          <p:cNvSpPr/>
          <p:nvPr/>
        </p:nvSpPr>
        <p:spPr>
          <a:xfrm>
            <a:off x="4434840" y="2779776"/>
            <a:ext cx="128016" cy="128016"/>
          </a:xfrm>
          <a:prstGeom prst="ellipse">
            <a:avLst/>
          </a:prstGeom>
          <a:solidFill>
            <a:srgbClr val="9C5A2E"/>
          </a:solidFill>
          <a:ln/>
        </p:spPr>
      </p:sp>
      <p:sp>
        <p:nvSpPr>
          <p:cNvPr id="14" name="Text 11"/>
          <p:cNvSpPr/>
          <p:nvPr/>
        </p:nvSpPr>
        <p:spPr>
          <a:xfrm>
            <a:off x="4709160" y="2642616"/>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Unified real-time view of load, capacity and ecological indicators</a:t>
            </a:r>
            <a:endParaRPr lang="en-US" sz="1300" dirty="0"/>
          </a:p>
        </p:txBody>
      </p:sp>
      <p:sp>
        <p:nvSpPr>
          <p:cNvPr id="15" name="Shape 12"/>
          <p:cNvSpPr/>
          <p:nvPr/>
        </p:nvSpPr>
        <p:spPr>
          <a:xfrm>
            <a:off x="4434840" y="3438144"/>
            <a:ext cx="128016" cy="128016"/>
          </a:xfrm>
          <a:prstGeom prst="ellipse">
            <a:avLst/>
          </a:prstGeom>
          <a:solidFill>
            <a:srgbClr val="9C5A2E"/>
          </a:solidFill>
          <a:ln/>
        </p:spPr>
      </p:sp>
      <p:sp>
        <p:nvSpPr>
          <p:cNvPr id="16" name="Text 13"/>
          <p:cNvSpPr/>
          <p:nvPr/>
        </p:nvSpPr>
        <p:spPr>
          <a:xfrm>
            <a:off x="4709160" y="3300984"/>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Automated alerts and scenario simulation for policy decisions</a:t>
            </a:r>
            <a:endParaRPr lang="en-US" sz="1300" dirty="0"/>
          </a:p>
        </p:txBody>
      </p:sp>
      <p:sp>
        <p:nvSpPr>
          <p:cNvPr id="17" name="Shape 14"/>
          <p:cNvSpPr/>
          <p:nvPr/>
        </p:nvSpPr>
        <p:spPr>
          <a:xfrm>
            <a:off x="4434840" y="4096512"/>
            <a:ext cx="128016" cy="128016"/>
          </a:xfrm>
          <a:prstGeom prst="ellipse">
            <a:avLst/>
          </a:prstGeom>
          <a:solidFill>
            <a:srgbClr val="9C5A2E"/>
          </a:solidFill>
          <a:ln/>
        </p:spPr>
      </p:sp>
      <p:sp>
        <p:nvSpPr>
          <p:cNvPr id="18" name="Text 15"/>
          <p:cNvSpPr/>
          <p:nvPr/>
        </p:nvSpPr>
        <p:spPr>
          <a:xfrm>
            <a:off x="4709160" y="3959352"/>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Impact reporting for community revenue distribution</a:t>
            </a:r>
            <a:endParaRPr lang="en-US" sz="1300" dirty="0"/>
          </a:p>
        </p:txBody>
      </p:sp>
      <p:sp>
        <p:nvSpPr>
          <p:cNvPr id="19" name="Shape 16"/>
          <p:cNvSpPr/>
          <p:nvPr/>
        </p:nvSpPr>
        <p:spPr>
          <a:xfrm>
            <a:off x="4434840" y="4754880"/>
            <a:ext cx="128016" cy="128016"/>
          </a:xfrm>
          <a:prstGeom prst="ellipse">
            <a:avLst/>
          </a:prstGeom>
          <a:solidFill>
            <a:srgbClr val="9C5A2E"/>
          </a:solidFill>
          <a:ln/>
        </p:spPr>
      </p:sp>
      <p:sp>
        <p:nvSpPr>
          <p:cNvPr id="20" name="Text 17"/>
          <p:cNvSpPr/>
          <p:nvPr/>
        </p:nvSpPr>
        <p:spPr>
          <a:xfrm>
            <a:off x="4709160" y="4617720"/>
            <a:ext cx="6858000" cy="502920"/>
          </a:xfrm>
          <a:prstGeom prst="rect">
            <a:avLst/>
          </a:prstGeom>
          <a:noFill/>
          <a:ln/>
        </p:spPr>
        <p:txBody>
          <a:bodyPr wrap="square" rtlCol="0" anchor="ctr"/>
          <a:lstStyle/>
          <a:p>
            <a:pPr indent="0" marL="0">
              <a:lnSpc>
                <a:spcPct val="120000"/>
              </a:lnSpc>
              <a:buNone/>
            </a:pPr>
            <a:r>
              <a:rPr lang="en-US" sz="1300" dirty="0">
                <a:solidFill>
                  <a:srgbClr val="2B2620"/>
                </a:solidFill>
                <a:latin typeface="Calibri" pitchFamily="34" charset="0"/>
                <a:ea typeface="Calibri" pitchFamily="34" charset="-122"/>
                <a:cs typeface="Calibri" pitchFamily="34" charset="-120"/>
              </a:rPr>
              <a:t>Season-over-season trend analysis to guide long-term planning</a:t>
            </a:r>
            <a:endParaRPr lang="en-US" sz="1300" dirty="0"/>
          </a:p>
        </p:txBody>
      </p:sp>
      <p:sp>
        <p:nvSpPr>
          <p:cNvPr id="21"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036"/>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E8C989"/>
                </a:solidFill>
                <a:latin typeface="Calibri" pitchFamily="34" charset="0"/>
                <a:ea typeface="Calibri" pitchFamily="34" charset="-122"/>
                <a:cs typeface="Calibri" pitchFamily="34" charset="-120"/>
              </a:rPr>
              <a:t>TECHNOLOGY</a:t>
            </a:r>
            <a:endParaRPr lang="en-US" sz="1250" dirty="0"/>
          </a:p>
        </p:txBody>
      </p:sp>
      <p:sp>
        <p:nvSpPr>
          <p:cNvPr id="3" name="Text 1"/>
          <p:cNvSpPr/>
          <p:nvPr/>
        </p:nvSpPr>
        <p:spPr>
          <a:xfrm>
            <a:off x="548640" y="804672"/>
            <a:ext cx="1078992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Built on the IBM AI stack</a:t>
            </a:r>
            <a:endParaRPr lang="en-US" sz="2700" dirty="0"/>
          </a:p>
        </p:txBody>
      </p:sp>
      <p:sp>
        <p:nvSpPr>
          <p:cNvPr id="4" name="Text 2"/>
          <p:cNvSpPr/>
          <p:nvPr/>
        </p:nvSpPr>
        <p:spPr>
          <a:xfrm>
            <a:off x="548640" y="1417320"/>
            <a:ext cx="10058400" cy="457200"/>
          </a:xfrm>
          <a:prstGeom prst="rect">
            <a:avLst/>
          </a:prstGeom>
          <a:noFill/>
          <a:ln/>
        </p:spPr>
        <p:txBody>
          <a:bodyPr wrap="square" rtlCol="0" anchor="ctr"/>
          <a:lstStyle/>
          <a:p>
            <a:pPr indent="0" marL="0">
              <a:buNone/>
            </a:pPr>
            <a:r>
              <a:rPr lang="en-US" sz="1350" dirty="0">
                <a:solidFill>
                  <a:srgbClr val="C9C3B5"/>
                </a:solidFill>
                <a:latin typeface="Calibri" pitchFamily="34" charset="0"/>
                <a:ea typeface="Calibri" pitchFamily="34" charset="-122"/>
                <a:cs typeface="Calibri" pitchFamily="34" charset="-120"/>
              </a:rPr>
              <a:t>A unified, enterprise-grade foundation for agent orchestration, reasoning and deployment.</a:t>
            </a:r>
            <a:endParaRPr lang="en-US" sz="1350" dirty="0"/>
          </a:p>
        </p:txBody>
      </p:sp>
      <p:sp>
        <p:nvSpPr>
          <p:cNvPr id="5" name="Shape 3"/>
          <p:cNvSpPr/>
          <p:nvPr/>
        </p:nvSpPr>
        <p:spPr>
          <a:xfrm>
            <a:off x="548640" y="2331720"/>
            <a:ext cx="3566160" cy="3291840"/>
          </a:xfrm>
          <a:prstGeom prst="roundRect">
            <a:avLst>
              <a:gd name="adj" fmla="val 3333"/>
            </a:avLst>
          </a:prstGeom>
          <a:solidFill>
            <a:srgbClr val="252B47"/>
          </a:solidFill>
          <a:ln/>
        </p:spPr>
      </p:sp>
      <p:sp>
        <p:nvSpPr>
          <p:cNvPr id="6" name="Shape 4"/>
          <p:cNvSpPr/>
          <p:nvPr/>
        </p:nvSpPr>
        <p:spPr>
          <a:xfrm>
            <a:off x="868680" y="2697480"/>
            <a:ext cx="777240" cy="777240"/>
          </a:xfrm>
          <a:prstGeom prst="ellipse">
            <a:avLst/>
          </a:prstGeom>
          <a:solidFill>
            <a:srgbClr val="9C5A2E"/>
          </a:solidFill>
          <a:ln/>
        </p:spPr>
      </p:sp>
      <p:pic>
        <p:nvPicPr>
          <p:cNvPr id="7" name="Image 0" descr="icons/brain.png">    </p:cNvPr>
          <p:cNvPicPr>
            <a:picLocks noChangeAspect="1"/>
          </p:cNvPicPr>
          <p:nvPr/>
        </p:nvPicPr>
        <p:blipFill>
          <a:blip r:embed="rId1"/>
          <a:stretch>
            <a:fillRect/>
          </a:stretch>
        </p:blipFill>
        <p:spPr>
          <a:xfrm>
            <a:off x="961949" y="2790749"/>
            <a:ext cx="590702" cy="590702"/>
          </a:xfrm>
          <a:prstGeom prst="rect">
            <a:avLst/>
          </a:prstGeom>
        </p:spPr>
      </p:pic>
      <p:sp>
        <p:nvSpPr>
          <p:cNvPr id="8" name="Text 5"/>
          <p:cNvSpPr/>
          <p:nvPr/>
        </p:nvSpPr>
        <p:spPr>
          <a:xfrm>
            <a:off x="868680" y="3611880"/>
            <a:ext cx="2926080" cy="594360"/>
          </a:xfrm>
          <a:prstGeom prst="rect">
            <a:avLst/>
          </a:prstGeom>
          <a:noFill/>
          <a:ln/>
        </p:spPr>
        <p:txBody>
          <a:bodyPr wrap="square" rtlCol="0" anchor="ctr"/>
          <a:lstStyle/>
          <a:p>
            <a:pPr indent="0" marL="0">
              <a:lnSpc>
                <a:spcPct val="110000"/>
              </a:lnSpc>
              <a:buNone/>
            </a:pPr>
            <a:r>
              <a:rPr lang="en-US" sz="1700" b="1" dirty="0">
                <a:solidFill>
                  <a:srgbClr val="E8C989"/>
                </a:solidFill>
                <a:latin typeface="Cambria" pitchFamily="34" charset="0"/>
                <a:ea typeface="Cambria" pitchFamily="34" charset="-122"/>
                <a:cs typeface="Cambria" pitchFamily="34" charset="-120"/>
              </a:rPr>
              <a:t>watsonx Orchestrate</a:t>
            </a:r>
            <a:endParaRPr lang="en-US" sz="1700" dirty="0"/>
          </a:p>
        </p:txBody>
      </p:sp>
      <p:sp>
        <p:nvSpPr>
          <p:cNvPr id="9" name="Text 6"/>
          <p:cNvSpPr/>
          <p:nvPr/>
        </p:nvSpPr>
        <p:spPr>
          <a:xfrm>
            <a:off x="868680" y="4251960"/>
            <a:ext cx="2926080" cy="1234440"/>
          </a:xfrm>
          <a:prstGeom prst="rect">
            <a:avLst/>
          </a:prstGeom>
          <a:noFill/>
          <a:ln/>
        </p:spPr>
        <p:txBody>
          <a:bodyPr wrap="square" rtlCol="0" anchor="ctr"/>
          <a:lstStyle/>
          <a:p>
            <a:pPr indent="0" marL="0">
              <a:lnSpc>
                <a:spcPct val="130000"/>
              </a:lnSpc>
              <a:buNone/>
            </a:pPr>
            <a:r>
              <a:rPr lang="en-US" sz="1200" dirty="0">
                <a:solidFill>
                  <a:srgbClr val="C9C3B5"/>
                </a:solidFill>
                <a:latin typeface="Calibri" pitchFamily="34" charset="0"/>
                <a:ea typeface="Calibri" pitchFamily="34" charset="-122"/>
                <a:cs typeface="Calibri" pitchFamily="34" charset="-120"/>
              </a:rPr>
              <a:t>Coordinates and sequences the five agents — routing tasks, data and triggers between them as a single agentic workflow.</a:t>
            </a:r>
            <a:endParaRPr lang="en-US" sz="1200" dirty="0"/>
          </a:p>
        </p:txBody>
      </p:sp>
      <p:sp>
        <p:nvSpPr>
          <p:cNvPr id="10" name="Shape 7"/>
          <p:cNvSpPr/>
          <p:nvPr/>
        </p:nvSpPr>
        <p:spPr>
          <a:xfrm>
            <a:off x="4343400" y="2331720"/>
            <a:ext cx="3566160" cy="3291840"/>
          </a:xfrm>
          <a:prstGeom prst="roundRect">
            <a:avLst>
              <a:gd name="adj" fmla="val 3333"/>
            </a:avLst>
          </a:prstGeom>
          <a:solidFill>
            <a:srgbClr val="252B47"/>
          </a:solidFill>
          <a:ln/>
        </p:spPr>
      </p:sp>
      <p:sp>
        <p:nvSpPr>
          <p:cNvPr id="11" name="Shape 8"/>
          <p:cNvSpPr/>
          <p:nvPr/>
        </p:nvSpPr>
        <p:spPr>
          <a:xfrm>
            <a:off x="4663440" y="2697480"/>
            <a:ext cx="777240" cy="777240"/>
          </a:xfrm>
          <a:prstGeom prst="ellipse">
            <a:avLst/>
          </a:prstGeom>
          <a:solidFill>
            <a:srgbClr val="9C5A2E"/>
          </a:solidFill>
          <a:ln/>
        </p:spPr>
      </p:sp>
      <p:pic>
        <p:nvPicPr>
          <p:cNvPr id="12" name="Image 1" descr="icons/gauge.png">    </p:cNvPr>
          <p:cNvPicPr>
            <a:picLocks noChangeAspect="1"/>
          </p:cNvPicPr>
          <p:nvPr/>
        </p:nvPicPr>
        <p:blipFill>
          <a:blip r:embed="rId2"/>
          <a:stretch>
            <a:fillRect/>
          </a:stretch>
        </p:blipFill>
        <p:spPr>
          <a:xfrm>
            <a:off x="4756709" y="2790749"/>
            <a:ext cx="590702" cy="590702"/>
          </a:xfrm>
          <a:prstGeom prst="rect">
            <a:avLst/>
          </a:prstGeom>
        </p:spPr>
      </p:pic>
      <p:sp>
        <p:nvSpPr>
          <p:cNvPr id="13" name="Text 9"/>
          <p:cNvSpPr/>
          <p:nvPr/>
        </p:nvSpPr>
        <p:spPr>
          <a:xfrm>
            <a:off x="4663440" y="3611880"/>
            <a:ext cx="2926080" cy="594360"/>
          </a:xfrm>
          <a:prstGeom prst="rect">
            <a:avLst/>
          </a:prstGeom>
          <a:noFill/>
          <a:ln/>
        </p:spPr>
        <p:txBody>
          <a:bodyPr wrap="square" rtlCol="0" anchor="ctr"/>
          <a:lstStyle/>
          <a:p>
            <a:pPr indent="0" marL="0">
              <a:lnSpc>
                <a:spcPct val="110000"/>
              </a:lnSpc>
              <a:buNone/>
            </a:pPr>
            <a:r>
              <a:rPr lang="en-US" sz="1700" b="1" dirty="0">
                <a:solidFill>
                  <a:srgbClr val="E8C989"/>
                </a:solidFill>
                <a:latin typeface="Cambria" pitchFamily="34" charset="0"/>
                <a:ea typeface="Cambria" pitchFamily="34" charset="-122"/>
                <a:cs typeface="Cambria" pitchFamily="34" charset="-120"/>
              </a:rPr>
              <a:t>IBM Granite LLM</a:t>
            </a:r>
            <a:endParaRPr lang="en-US" sz="1700" dirty="0"/>
          </a:p>
        </p:txBody>
      </p:sp>
      <p:sp>
        <p:nvSpPr>
          <p:cNvPr id="14" name="Text 10"/>
          <p:cNvSpPr/>
          <p:nvPr/>
        </p:nvSpPr>
        <p:spPr>
          <a:xfrm>
            <a:off x="4663440" y="4251960"/>
            <a:ext cx="2926080" cy="1234440"/>
          </a:xfrm>
          <a:prstGeom prst="rect">
            <a:avLst/>
          </a:prstGeom>
          <a:noFill/>
          <a:ln/>
        </p:spPr>
        <p:txBody>
          <a:bodyPr wrap="square" rtlCol="0" anchor="ctr"/>
          <a:lstStyle/>
          <a:p>
            <a:pPr indent="0" marL="0">
              <a:lnSpc>
                <a:spcPct val="130000"/>
              </a:lnSpc>
              <a:buNone/>
            </a:pPr>
            <a:r>
              <a:rPr lang="en-US" sz="1200" dirty="0">
                <a:solidFill>
                  <a:srgbClr val="C9C3B5"/>
                </a:solidFill>
                <a:latin typeface="Calibri" pitchFamily="34" charset="0"/>
                <a:ea typeface="Calibri" pitchFamily="34" charset="-122"/>
                <a:cs typeface="Calibri" pitchFamily="34" charset="-120"/>
              </a:rPr>
              <a:t>Powers natural-language reasoning: itinerary generation, forecast summaries, and community-facing recommendations.</a:t>
            </a:r>
            <a:endParaRPr lang="en-US" sz="1200" dirty="0"/>
          </a:p>
        </p:txBody>
      </p:sp>
      <p:sp>
        <p:nvSpPr>
          <p:cNvPr id="15" name="Shape 11"/>
          <p:cNvSpPr/>
          <p:nvPr/>
        </p:nvSpPr>
        <p:spPr>
          <a:xfrm>
            <a:off x="8138160" y="2331720"/>
            <a:ext cx="3566160" cy="3291840"/>
          </a:xfrm>
          <a:prstGeom prst="roundRect">
            <a:avLst>
              <a:gd name="adj" fmla="val 3333"/>
            </a:avLst>
          </a:prstGeom>
          <a:solidFill>
            <a:srgbClr val="252B47"/>
          </a:solidFill>
          <a:ln/>
        </p:spPr>
      </p:sp>
      <p:sp>
        <p:nvSpPr>
          <p:cNvPr id="16" name="Shape 12"/>
          <p:cNvSpPr/>
          <p:nvPr/>
        </p:nvSpPr>
        <p:spPr>
          <a:xfrm>
            <a:off x="8458200" y="2697480"/>
            <a:ext cx="777240" cy="777240"/>
          </a:xfrm>
          <a:prstGeom prst="ellipse">
            <a:avLst/>
          </a:prstGeom>
          <a:solidFill>
            <a:srgbClr val="9C5A2E"/>
          </a:solidFill>
          <a:ln/>
        </p:spPr>
      </p:sp>
      <p:pic>
        <p:nvPicPr>
          <p:cNvPr id="17" name="Image 2" descr="icons/cloud.png">    </p:cNvPr>
          <p:cNvPicPr>
            <a:picLocks noChangeAspect="1"/>
          </p:cNvPicPr>
          <p:nvPr/>
        </p:nvPicPr>
        <p:blipFill>
          <a:blip r:embed="rId3"/>
          <a:stretch>
            <a:fillRect/>
          </a:stretch>
        </p:blipFill>
        <p:spPr>
          <a:xfrm>
            <a:off x="8551469" y="2790749"/>
            <a:ext cx="590702" cy="590702"/>
          </a:xfrm>
          <a:prstGeom prst="rect">
            <a:avLst/>
          </a:prstGeom>
        </p:spPr>
      </p:pic>
      <p:sp>
        <p:nvSpPr>
          <p:cNvPr id="18" name="Text 13"/>
          <p:cNvSpPr/>
          <p:nvPr/>
        </p:nvSpPr>
        <p:spPr>
          <a:xfrm>
            <a:off x="8458200" y="3611880"/>
            <a:ext cx="2926080" cy="594360"/>
          </a:xfrm>
          <a:prstGeom prst="rect">
            <a:avLst/>
          </a:prstGeom>
          <a:noFill/>
          <a:ln/>
        </p:spPr>
        <p:txBody>
          <a:bodyPr wrap="square" rtlCol="0" anchor="ctr"/>
          <a:lstStyle/>
          <a:p>
            <a:pPr indent="0" marL="0">
              <a:lnSpc>
                <a:spcPct val="110000"/>
              </a:lnSpc>
              <a:buNone/>
            </a:pPr>
            <a:r>
              <a:rPr lang="en-US" sz="1700" b="1" dirty="0">
                <a:solidFill>
                  <a:srgbClr val="E8C989"/>
                </a:solidFill>
                <a:latin typeface="Cambria" pitchFamily="34" charset="0"/>
                <a:ea typeface="Cambria" pitchFamily="34" charset="-122"/>
                <a:cs typeface="Cambria" pitchFamily="34" charset="-120"/>
              </a:rPr>
              <a:t>IBM Cloud</a:t>
            </a:r>
            <a:endParaRPr lang="en-US" sz="1700" dirty="0"/>
          </a:p>
        </p:txBody>
      </p:sp>
      <p:sp>
        <p:nvSpPr>
          <p:cNvPr id="19" name="Text 14"/>
          <p:cNvSpPr/>
          <p:nvPr/>
        </p:nvSpPr>
        <p:spPr>
          <a:xfrm>
            <a:off x="8458200" y="4251960"/>
            <a:ext cx="2926080" cy="1234440"/>
          </a:xfrm>
          <a:prstGeom prst="rect">
            <a:avLst/>
          </a:prstGeom>
          <a:noFill/>
          <a:ln/>
        </p:spPr>
        <p:txBody>
          <a:bodyPr wrap="square" rtlCol="0" anchor="ctr"/>
          <a:lstStyle/>
          <a:p>
            <a:pPr indent="0" marL="0">
              <a:lnSpc>
                <a:spcPct val="130000"/>
              </a:lnSpc>
              <a:buNone/>
            </a:pPr>
            <a:r>
              <a:rPr lang="en-US" sz="1200" dirty="0">
                <a:solidFill>
                  <a:srgbClr val="C9C3B5"/>
                </a:solidFill>
                <a:latin typeface="Calibri" pitchFamily="34" charset="0"/>
                <a:ea typeface="Calibri" pitchFamily="34" charset="-122"/>
                <a:cs typeface="Calibri" pitchFamily="34" charset="-120"/>
              </a:rPr>
              <a:t>Hosts the platform end-to-end — scalable compute, data pipelines and secure storage for real-time agent operation.</a:t>
            </a:r>
            <a:endParaRPr lang="en-US" sz="1200" dirty="0"/>
          </a:p>
        </p:txBody>
      </p:sp>
      <p:sp>
        <p:nvSpPr>
          <p:cNvPr id="20"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37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rtlCol="0" anchor="ctr"/>
          <a:lstStyle/>
          <a:p>
            <a:pPr indent="0" marL="0">
              <a:buNone/>
            </a:pPr>
            <a:r>
              <a:rPr lang="en-US" sz="1250" b="1" spc="200" kern="0" dirty="0">
                <a:solidFill>
                  <a:srgbClr val="9C5A2E"/>
                </a:solidFill>
                <a:latin typeface="Calibri" pitchFamily="34" charset="0"/>
                <a:ea typeface="Calibri" pitchFamily="34" charset="-122"/>
                <a:cs typeface="Calibri" pitchFamily="34" charset="-120"/>
              </a:rPr>
              <a:t>EXPECTED IMPACT</a:t>
            </a:r>
            <a:endParaRPr lang="en-US" sz="1250" dirty="0"/>
          </a:p>
        </p:txBody>
      </p:sp>
      <p:sp>
        <p:nvSpPr>
          <p:cNvPr id="3" name="Text 1"/>
          <p:cNvSpPr/>
          <p:nvPr/>
        </p:nvSpPr>
        <p:spPr>
          <a:xfrm>
            <a:off x="548640" y="804672"/>
            <a:ext cx="10789920" cy="822960"/>
          </a:xfrm>
          <a:prstGeom prst="rect">
            <a:avLst/>
          </a:prstGeom>
          <a:noFill/>
          <a:ln/>
        </p:spPr>
        <p:txBody>
          <a:bodyPr wrap="square" rtlCol="0" anchor="ctr"/>
          <a:lstStyle/>
          <a:p>
            <a:pPr indent="0" marL="0">
              <a:buNone/>
            </a:pPr>
            <a:r>
              <a:rPr lang="en-US" sz="2600" b="1" dirty="0">
                <a:solidFill>
                  <a:srgbClr val="2B2620"/>
                </a:solidFill>
                <a:latin typeface="Cambria" pitchFamily="34" charset="0"/>
                <a:ea typeface="Cambria" pitchFamily="34" charset="-122"/>
                <a:cs typeface="Cambria" pitchFamily="34" charset="-120"/>
              </a:rPr>
              <a:t>From reactive crowd control to proactive stewardship</a:t>
            </a:r>
            <a:endParaRPr lang="en-US" sz="2600" dirty="0"/>
          </a:p>
        </p:txBody>
      </p:sp>
      <p:sp>
        <p:nvSpPr>
          <p:cNvPr id="4" name="Shape 2"/>
          <p:cNvSpPr/>
          <p:nvPr/>
        </p:nvSpPr>
        <p:spPr>
          <a:xfrm>
            <a:off x="548640" y="1965960"/>
            <a:ext cx="2606040" cy="3749040"/>
          </a:xfrm>
          <a:prstGeom prst="roundRect">
            <a:avLst>
              <a:gd name="adj" fmla="val 3509"/>
            </a:avLst>
          </a:prstGeom>
          <a:solidFill>
            <a:srgbClr val="FFFFFF"/>
          </a:solidFill>
          <a:ln w="12700">
            <a:solidFill>
              <a:srgbClr val="E3DCCB"/>
            </a:solidFill>
            <a:prstDash val="solid"/>
          </a:ln>
          <a:effectLst>
            <a:outerShdw sx="100000" sy="100000" kx="0" ky="0" algn="bl" rotWithShape="0" blurRad="88900" dist="38100" dir="5400000">
              <a:srgbClr val="3A3226">
                <a:alpha val="15000"/>
              </a:srgbClr>
            </a:outerShdw>
          </a:effectLst>
        </p:spPr>
      </p:sp>
      <p:sp>
        <p:nvSpPr>
          <p:cNvPr id="5" name="Shape 3"/>
          <p:cNvSpPr/>
          <p:nvPr/>
        </p:nvSpPr>
        <p:spPr>
          <a:xfrm>
            <a:off x="1463040" y="2331720"/>
            <a:ext cx="777240" cy="777240"/>
          </a:xfrm>
          <a:prstGeom prst="ellipse">
            <a:avLst/>
          </a:prstGeom>
          <a:solidFill>
            <a:srgbClr val="9C5A2E"/>
          </a:solidFill>
          <a:ln/>
        </p:spPr>
      </p:sp>
      <p:pic>
        <p:nvPicPr>
          <p:cNvPr id="6" name="Image 0" descr="icons/shield.png">    </p:cNvPr>
          <p:cNvPicPr>
            <a:picLocks noChangeAspect="1"/>
          </p:cNvPicPr>
          <p:nvPr/>
        </p:nvPicPr>
        <p:blipFill>
          <a:blip r:embed="rId1"/>
          <a:stretch>
            <a:fillRect/>
          </a:stretch>
        </p:blipFill>
        <p:spPr>
          <a:xfrm>
            <a:off x="1556309" y="2424989"/>
            <a:ext cx="590702" cy="590702"/>
          </a:xfrm>
          <a:prstGeom prst="rect">
            <a:avLst/>
          </a:prstGeom>
        </p:spPr>
      </p:pic>
      <p:sp>
        <p:nvSpPr>
          <p:cNvPr id="7" name="Text 4"/>
          <p:cNvSpPr/>
          <p:nvPr/>
        </p:nvSpPr>
        <p:spPr>
          <a:xfrm>
            <a:off x="731520" y="3383280"/>
            <a:ext cx="2240280" cy="548640"/>
          </a:xfrm>
          <a:prstGeom prst="rect">
            <a:avLst/>
          </a:prstGeom>
          <a:noFill/>
          <a:ln/>
        </p:spPr>
        <p:txBody>
          <a:bodyPr wrap="square" rtlCol="0" anchor="ctr"/>
          <a:lstStyle/>
          <a:p>
            <a:pPr algn="ctr" indent="0" marL="0">
              <a:lnSpc>
                <a:spcPct val="110000"/>
              </a:lnSpc>
              <a:buNone/>
            </a:pPr>
            <a:r>
              <a:rPr lang="en-US" sz="1500" b="1" dirty="0">
                <a:solidFill>
                  <a:srgbClr val="2B2620"/>
                </a:solidFill>
                <a:latin typeface="Cambria" pitchFamily="34" charset="0"/>
                <a:ea typeface="Cambria" pitchFamily="34" charset="-122"/>
                <a:cs typeface="Cambria" pitchFamily="34" charset="-120"/>
              </a:rPr>
              <a:t>Protected Ecology</a:t>
            </a:r>
            <a:endParaRPr lang="en-US" sz="1500" dirty="0"/>
          </a:p>
        </p:txBody>
      </p:sp>
      <p:sp>
        <p:nvSpPr>
          <p:cNvPr id="8" name="Text 5"/>
          <p:cNvSpPr/>
          <p:nvPr/>
        </p:nvSpPr>
        <p:spPr>
          <a:xfrm>
            <a:off x="731520" y="3977640"/>
            <a:ext cx="2240280" cy="1554480"/>
          </a:xfrm>
          <a:prstGeom prst="rect">
            <a:avLst/>
          </a:prstGeom>
          <a:noFill/>
          <a:ln/>
        </p:spPr>
        <p:txBody>
          <a:bodyPr wrap="square" rtlCol="0" anchor="ctr"/>
          <a:lstStyle/>
          <a:p>
            <a:pPr algn="ctr" indent="0" marL="0">
              <a:lnSpc>
                <a:spcPct val="125000"/>
              </a:lnSpc>
              <a:buNone/>
            </a:pPr>
            <a:r>
              <a:rPr lang="en-US" sz="1150" dirty="0">
                <a:solidFill>
                  <a:srgbClr val="8A8371"/>
                </a:solidFill>
                <a:latin typeface="Calibri" pitchFamily="34" charset="0"/>
                <a:ea typeface="Calibri" pitchFamily="34" charset="-122"/>
                <a:cs typeface="Calibri" pitchFamily="34" charset="-120"/>
              </a:rPr>
              <a:t>Fragile salt-flat, wetland and grassland zones stay within sustainable visitor thresholds year-round.</a:t>
            </a:r>
            <a:endParaRPr lang="en-US" sz="1150" dirty="0"/>
          </a:p>
        </p:txBody>
      </p:sp>
      <p:sp>
        <p:nvSpPr>
          <p:cNvPr id="9" name="Shape 6"/>
          <p:cNvSpPr/>
          <p:nvPr/>
        </p:nvSpPr>
        <p:spPr>
          <a:xfrm>
            <a:off x="3337560" y="1965960"/>
            <a:ext cx="2606040" cy="3749040"/>
          </a:xfrm>
          <a:prstGeom prst="roundRect">
            <a:avLst>
              <a:gd name="adj" fmla="val 3509"/>
            </a:avLst>
          </a:prstGeom>
          <a:solidFill>
            <a:srgbClr val="FFFFFF"/>
          </a:solidFill>
          <a:ln w="12700">
            <a:solidFill>
              <a:srgbClr val="E3DCCB"/>
            </a:solidFill>
            <a:prstDash val="solid"/>
          </a:ln>
          <a:effectLst>
            <a:outerShdw sx="100000" sy="100000" kx="0" ky="0" algn="bl" rotWithShape="0" blurRad="88900" dist="38100" dir="5400000">
              <a:srgbClr val="3A3226">
                <a:alpha val="15000"/>
              </a:srgbClr>
            </a:outerShdw>
          </a:effectLst>
        </p:spPr>
      </p:sp>
      <p:sp>
        <p:nvSpPr>
          <p:cNvPr id="10" name="Shape 7"/>
          <p:cNvSpPr/>
          <p:nvPr/>
        </p:nvSpPr>
        <p:spPr>
          <a:xfrm>
            <a:off x="4251960" y="2331720"/>
            <a:ext cx="777240" cy="777240"/>
          </a:xfrm>
          <a:prstGeom prst="ellipse">
            <a:avLst/>
          </a:prstGeom>
          <a:solidFill>
            <a:srgbClr val="1B2036"/>
          </a:solidFill>
          <a:ln/>
        </p:spPr>
      </p:sp>
      <p:pic>
        <p:nvPicPr>
          <p:cNvPr id="11" name="Image 1" descr="icons/route.png">    </p:cNvPr>
          <p:cNvPicPr>
            <a:picLocks noChangeAspect="1"/>
          </p:cNvPicPr>
          <p:nvPr/>
        </p:nvPicPr>
        <p:blipFill>
          <a:blip r:embed="rId2"/>
          <a:stretch>
            <a:fillRect/>
          </a:stretch>
        </p:blipFill>
        <p:spPr>
          <a:xfrm>
            <a:off x="4345229" y="2424989"/>
            <a:ext cx="590702" cy="590702"/>
          </a:xfrm>
          <a:prstGeom prst="rect">
            <a:avLst/>
          </a:prstGeom>
        </p:spPr>
      </p:pic>
      <p:sp>
        <p:nvSpPr>
          <p:cNvPr id="12" name="Text 8"/>
          <p:cNvSpPr/>
          <p:nvPr/>
        </p:nvSpPr>
        <p:spPr>
          <a:xfrm>
            <a:off x="3520440" y="3383280"/>
            <a:ext cx="2240280" cy="548640"/>
          </a:xfrm>
          <a:prstGeom prst="rect">
            <a:avLst/>
          </a:prstGeom>
          <a:noFill/>
          <a:ln/>
        </p:spPr>
        <p:txBody>
          <a:bodyPr wrap="square" rtlCol="0" anchor="ctr"/>
          <a:lstStyle/>
          <a:p>
            <a:pPr algn="ctr" indent="0" marL="0">
              <a:lnSpc>
                <a:spcPct val="110000"/>
              </a:lnSpc>
              <a:buNone/>
            </a:pPr>
            <a:r>
              <a:rPr lang="en-US" sz="1500" b="1" dirty="0">
                <a:solidFill>
                  <a:srgbClr val="2B2620"/>
                </a:solidFill>
                <a:latin typeface="Cambria" pitchFamily="34" charset="0"/>
                <a:ea typeface="Cambria" pitchFamily="34" charset="-122"/>
                <a:cs typeface="Cambria" pitchFamily="34" charset="-120"/>
              </a:rPr>
              <a:t>Dispersed Demand</a:t>
            </a:r>
            <a:endParaRPr lang="en-US" sz="1500" dirty="0"/>
          </a:p>
        </p:txBody>
      </p:sp>
      <p:sp>
        <p:nvSpPr>
          <p:cNvPr id="13" name="Text 9"/>
          <p:cNvSpPr/>
          <p:nvPr/>
        </p:nvSpPr>
        <p:spPr>
          <a:xfrm>
            <a:off x="3520440" y="3977640"/>
            <a:ext cx="2240280" cy="1554480"/>
          </a:xfrm>
          <a:prstGeom prst="rect">
            <a:avLst/>
          </a:prstGeom>
          <a:noFill/>
          <a:ln/>
        </p:spPr>
        <p:txBody>
          <a:bodyPr wrap="square" rtlCol="0" anchor="ctr"/>
          <a:lstStyle/>
          <a:p>
            <a:pPr algn="ctr" indent="0" marL="0">
              <a:lnSpc>
                <a:spcPct val="125000"/>
              </a:lnSpc>
              <a:buNone/>
            </a:pPr>
            <a:r>
              <a:rPr lang="en-US" sz="1150" dirty="0">
                <a:solidFill>
                  <a:srgbClr val="8A8371"/>
                </a:solidFill>
                <a:latin typeface="Calibri" pitchFamily="34" charset="0"/>
                <a:ea typeface="Calibri" pitchFamily="34" charset="-122"/>
                <a:cs typeface="Calibri" pitchFamily="34" charset="-120"/>
              </a:rPr>
              <a:t>Footfall spreads across lesser-known circuits instead of concentrating on peak festival dates.</a:t>
            </a:r>
            <a:endParaRPr lang="en-US" sz="1150" dirty="0"/>
          </a:p>
        </p:txBody>
      </p:sp>
      <p:sp>
        <p:nvSpPr>
          <p:cNvPr id="14" name="Shape 10"/>
          <p:cNvSpPr/>
          <p:nvPr/>
        </p:nvSpPr>
        <p:spPr>
          <a:xfrm>
            <a:off x="6126480" y="1965960"/>
            <a:ext cx="2606040" cy="3749040"/>
          </a:xfrm>
          <a:prstGeom prst="roundRect">
            <a:avLst>
              <a:gd name="adj" fmla="val 3509"/>
            </a:avLst>
          </a:prstGeom>
          <a:solidFill>
            <a:srgbClr val="FFFFFF"/>
          </a:solidFill>
          <a:ln w="12700">
            <a:solidFill>
              <a:srgbClr val="E3DCCB"/>
            </a:solidFill>
            <a:prstDash val="solid"/>
          </a:ln>
          <a:effectLst>
            <a:outerShdw sx="100000" sy="100000" kx="0" ky="0" algn="bl" rotWithShape="0" blurRad="88900" dist="38100" dir="5400000">
              <a:srgbClr val="3A3226">
                <a:alpha val="15000"/>
              </a:srgbClr>
            </a:outerShdw>
          </a:effectLst>
        </p:spPr>
      </p:sp>
      <p:sp>
        <p:nvSpPr>
          <p:cNvPr id="15" name="Shape 11"/>
          <p:cNvSpPr/>
          <p:nvPr/>
        </p:nvSpPr>
        <p:spPr>
          <a:xfrm>
            <a:off x="7040880" y="2331720"/>
            <a:ext cx="777240" cy="777240"/>
          </a:xfrm>
          <a:prstGeom prst="ellipse">
            <a:avLst/>
          </a:prstGeom>
          <a:solidFill>
            <a:srgbClr val="9C5A2E"/>
          </a:solidFill>
          <a:ln/>
        </p:spPr>
      </p:sp>
      <p:pic>
        <p:nvPicPr>
          <p:cNvPr id="16" name="Image 2" descr="icons/handshake.png">    </p:cNvPr>
          <p:cNvPicPr>
            <a:picLocks noChangeAspect="1"/>
          </p:cNvPicPr>
          <p:nvPr/>
        </p:nvPicPr>
        <p:blipFill>
          <a:blip r:embed="rId3"/>
          <a:stretch>
            <a:fillRect/>
          </a:stretch>
        </p:blipFill>
        <p:spPr>
          <a:xfrm>
            <a:off x="7134149" y="2424989"/>
            <a:ext cx="590702" cy="590702"/>
          </a:xfrm>
          <a:prstGeom prst="rect">
            <a:avLst/>
          </a:prstGeom>
        </p:spPr>
      </p:pic>
      <p:sp>
        <p:nvSpPr>
          <p:cNvPr id="17" name="Text 12"/>
          <p:cNvSpPr/>
          <p:nvPr/>
        </p:nvSpPr>
        <p:spPr>
          <a:xfrm>
            <a:off x="6309360" y="3383280"/>
            <a:ext cx="2240280" cy="548640"/>
          </a:xfrm>
          <a:prstGeom prst="rect">
            <a:avLst/>
          </a:prstGeom>
          <a:noFill/>
          <a:ln/>
        </p:spPr>
        <p:txBody>
          <a:bodyPr wrap="square" rtlCol="0" anchor="ctr"/>
          <a:lstStyle/>
          <a:p>
            <a:pPr algn="ctr" indent="0" marL="0">
              <a:lnSpc>
                <a:spcPct val="110000"/>
              </a:lnSpc>
              <a:buNone/>
            </a:pPr>
            <a:r>
              <a:rPr lang="en-US" sz="1500" b="1" dirty="0">
                <a:solidFill>
                  <a:srgbClr val="2B2620"/>
                </a:solidFill>
                <a:latin typeface="Cambria" pitchFamily="34" charset="0"/>
                <a:ea typeface="Cambria" pitchFamily="34" charset="-122"/>
                <a:cs typeface="Cambria" pitchFamily="34" charset="-120"/>
              </a:rPr>
              <a:t>Stronger Communities</a:t>
            </a:r>
            <a:endParaRPr lang="en-US" sz="1500" dirty="0"/>
          </a:p>
        </p:txBody>
      </p:sp>
      <p:sp>
        <p:nvSpPr>
          <p:cNvPr id="18" name="Text 13"/>
          <p:cNvSpPr/>
          <p:nvPr/>
        </p:nvSpPr>
        <p:spPr>
          <a:xfrm>
            <a:off x="6309360" y="3977640"/>
            <a:ext cx="2240280" cy="1554480"/>
          </a:xfrm>
          <a:prstGeom prst="rect">
            <a:avLst/>
          </a:prstGeom>
          <a:noFill/>
          <a:ln/>
        </p:spPr>
        <p:txBody>
          <a:bodyPr wrap="square" rtlCol="0" anchor="ctr"/>
          <a:lstStyle/>
          <a:p>
            <a:pPr algn="ctr" indent="0" marL="0">
              <a:lnSpc>
                <a:spcPct val="125000"/>
              </a:lnSpc>
              <a:buNone/>
            </a:pPr>
            <a:r>
              <a:rPr lang="en-US" sz="1150" dirty="0">
                <a:solidFill>
                  <a:srgbClr val="8A8371"/>
                </a:solidFill>
                <a:latin typeface="Calibri" pitchFamily="34" charset="0"/>
                <a:ea typeface="Calibri" pitchFamily="34" charset="-122"/>
                <a:cs typeface="Calibri" pitchFamily="34" charset="-120"/>
              </a:rPr>
              <a:t>Artisans and homestays receive steadier, better-forecast visitor revenue across the season.</a:t>
            </a:r>
            <a:endParaRPr lang="en-US" sz="1150" dirty="0"/>
          </a:p>
        </p:txBody>
      </p:sp>
      <p:sp>
        <p:nvSpPr>
          <p:cNvPr id="19" name="Shape 14"/>
          <p:cNvSpPr/>
          <p:nvPr/>
        </p:nvSpPr>
        <p:spPr>
          <a:xfrm>
            <a:off x="8915400" y="1965960"/>
            <a:ext cx="2606040" cy="3749040"/>
          </a:xfrm>
          <a:prstGeom prst="roundRect">
            <a:avLst>
              <a:gd name="adj" fmla="val 3509"/>
            </a:avLst>
          </a:prstGeom>
          <a:solidFill>
            <a:srgbClr val="FFFFFF"/>
          </a:solidFill>
          <a:ln w="12700">
            <a:solidFill>
              <a:srgbClr val="E3DCCB"/>
            </a:solidFill>
            <a:prstDash val="solid"/>
          </a:ln>
          <a:effectLst>
            <a:outerShdw sx="100000" sy="100000" kx="0" ky="0" algn="bl" rotWithShape="0" blurRad="88900" dist="38100" dir="5400000">
              <a:srgbClr val="3A3226">
                <a:alpha val="15000"/>
              </a:srgbClr>
            </a:outerShdw>
          </a:effectLst>
        </p:spPr>
      </p:sp>
      <p:sp>
        <p:nvSpPr>
          <p:cNvPr id="20" name="Shape 15"/>
          <p:cNvSpPr/>
          <p:nvPr/>
        </p:nvSpPr>
        <p:spPr>
          <a:xfrm>
            <a:off x="9829800" y="2331720"/>
            <a:ext cx="777240" cy="777240"/>
          </a:xfrm>
          <a:prstGeom prst="ellipse">
            <a:avLst/>
          </a:prstGeom>
          <a:solidFill>
            <a:srgbClr val="1B2036"/>
          </a:solidFill>
          <a:ln/>
        </p:spPr>
      </p:sp>
      <p:pic>
        <p:nvPicPr>
          <p:cNvPr id="21" name="Image 3" descr="icons/dashboard.png">    </p:cNvPr>
          <p:cNvPicPr>
            <a:picLocks noChangeAspect="1"/>
          </p:cNvPicPr>
          <p:nvPr/>
        </p:nvPicPr>
        <p:blipFill>
          <a:blip r:embed="rId4"/>
          <a:stretch>
            <a:fillRect/>
          </a:stretch>
        </p:blipFill>
        <p:spPr>
          <a:xfrm>
            <a:off x="9923069" y="2424989"/>
            <a:ext cx="590702" cy="590702"/>
          </a:xfrm>
          <a:prstGeom prst="rect">
            <a:avLst/>
          </a:prstGeom>
        </p:spPr>
      </p:pic>
      <p:sp>
        <p:nvSpPr>
          <p:cNvPr id="22" name="Text 16"/>
          <p:cNvSpPr/>
          <p:nvPr/>
        </p:nvSpPr>
        <p:spPr>
          <a:xfrm>
            <a:off x="9098280" y="3383280"/>
            <a:ext cx="2240280" cy="548640"/>
          </a:xfrm>
          <a:prstGeom prst="rect">
            <a:avLst/>
          </a:prstGeom>
          <a:noFill/>
          <a:ln/>
        </p:spPr>
        <p:txBody>
          <a:bodyPr wrap="square" rtlCol="0" anchor="ctr"/>
          <a:lstStyle/>
          <a:p>
            <a:pPr algn="ctr" indent="0" marL="0">
              <a:lnSpc>
                <a:spcPct val="110000"/>
              </a:lnSpc>
              <a:buNone/>
            </a:pPr>
            <a:r>
              <a:rPr lang="en-US" sz="1500" b="1" dirty="0">
                <a:solidFill>
                  <a:srgbClr val="2B2620"/>
                </a:solidFill>
                <a:latin typeface="Cambria" pitchFamily="34" charset="0"/>
                <a:ea typeface="Cambria" pitchFamily="34" charset="-122"/>
                <a:cs typeface="Cambria" pitchFamily="34" charset="-120"/>
              </a:rPr>
              <a:t>Smarter Policy</a:t>
            </a:r>
            <a:endParaRPr lang="en-US" sz="1500" dirty="0"/>
          </a:p>
        </p:txBody>
      </p:sp>
      <p:sp>
        <p:nvSpPr>
          <p:cNvPr id="23" name="Text 17"/>
          <p:cNvSpPr/>
          <p:nvPr/>
        </p:nvSpPr>
        <p:spPr>
          <a:xfrm>
            <a:off x="9098280" y="3977640"/>
            <a:ext cx="2240280" cy="1554480"/>
          </a:xfrm>
          <a:prstGeom prst="rect">
            <a:avLst/>
          </a:prstGeom>
          <a:noFill/>
          <a:ln/>
        </p:spPr>
        <p:txBody>
          <a:bodyPr wrap="square" rtlCol="0" anchor="ctr"/>
          <a:lstStyle/>
          <a:p>
            <a:pPr algn="ctr" indent="0" marL="0">
              <a:lnSpc>
                <a:spcPct val="125000"/>
              </a:lnSpc>
              <a:buNone/>
            </a:pPr>
            <a:r>
              <a:rPr lang="en-US" sz="1150" dirty="0">
                <a:solidFill>
                  <a:srgbClr val="8A8371"/>
                </a:solidFill>
                <a:latin typeface="Calibri" pitchFamily="34" charset="0"/>
                <a:ea typeface="Calibri" pitchFamily="34" charset="-122"/>
                <a:cs typeface="Calibri" pitchFamily="34" charset="-120"/>
              </a:rPr>
              <a:t>Authorities plan permits, transport and infrastructure using live, unified impact data.</a:t>
            </a:r>
            <a:endParaRPr lang="en-US" sz="1150" dirty="0"/>
          </a:p>
        </p:txBody>
      </p:sp>
      <p:sp>
        <p:nvSpPr>
          <p:cNvPr id="24"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B7AFA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036"/>
        </a:solidFill>
      </p:bgPr>
    </p:bg>
    <p:spTree>
      <p:nvGrpSpPr>
        <p:cNvPr id="1" name=""/>
        <p:cNvGrpSpPr/>
        <p:nvPr/>
      </p:nvGrpSpPr>
      <p:grpSpPr>
        <a:xfrm>
          <a:off x="0" y="0"/>
          <a:ext cx="0" cy="0"/>
          <a:chOff x="0" y="0"/>
          <a:chExt cx="0" cy="0"/>
        </a:xfrm>
      </p:grpSpPr>
      <p:sp>
        <p:nvSpPr>
          <p:cNvPr id="2" name="Shape 0"/>
          <p:cNvSpPr/>
          <p:nvPr/>
        </p:nvSpPr>
        <p:spPr>
          <a:xfrm>
            <a:off x="9966960" y="548640"/>
            <a:ext cx="1554480" cy="1554480"/>
          </a:xfrm>
          <a:prstGeom prst="ellipse">
            <a:avLst/>
          </a:prstGeom>
          <a:solidFill>
            <a:srgbClr val="E8C989">
              <a:alpha val="80000"/>
            </a:srgbClr>
          </a:solidFill>
          <a:ln/>
        </p:spPr>
      </p:sp>
      <p:sp>
        <p:nvSpPr>
          <p:cNvPr id="3" name="Shape 1"/>
          <p:cNvSpPr/>
          <p:nvPr/>
        </p:nvSpPr>
        <p:spPr>
          <a:xfrm>
            <a:off x="0" y="5212080"/>
            <a:ext cx="12188952" cy="1645920"/>
          </a:xfrm>
          <a:prstGeom prst="rect">
            <a:avLst/>
          </a:prstGeom>
          <a:solidFill>
            <a:srgbClr val="6E3F20">
              <a:alpha val="55000"/>
            </a:srgbClr>
          </a:solidFill>
          <a:ln/>
        </p:spPr>
      </p:sp>
      <p:sp>
        <p:nvSpPr>
          <p:cNvPr id="4" name="Shape 2"/>
          <p:cNvSpPr/>
          <p:nvPr/>
        </p:nvSpPr>
        <p:spPr>
          <a:xfrm>
            <a:off x="0" y="5669280"/>
            <a:ext cx="12188952" cy="1188720"/>
          </a:xfrm>
          <a:prstGeom prst="rect">
            <a:avLst/>
          </a:prstGeom>
          <a:solidFill>
            <a:srgbClr val="E8C989">
              <a:alpha val="80000"/>
            </a:srgbClr>
          </a:solidFill>
          <a:ln/>
        </p:spPr>
      </p:sp>
      <p:sp>
        <p:nvSpPr>
          <p:cNvPr id="5" name="Text 3"/>
          <p:cNvSpPr/>
          <p:nvPr/>
        </p:nvSpPr>
        <p:spPr>
          <a:xfrm>
            <a:off x="640080" y="2468880"/>
            <a:ext cx="10515600" cy="1280160"/>
          </a:xfrm>
          <a:prstGeom prst="rect">
            <a:avLst/>
          </a:prstGeom>
          <a:noFill/>
          <a:ln/>
        </p:spPr>
        <p:txBody>
          <a:bodyPr wrap="square" rtlCol="0" anchor="ctr"/>
          <a:lstStyle/>
          <a:p>
            <a:pPr indent="0" marL="0">
              <a:lnSpc>
                <a:spcPct val="120000"/>
              </a:lnSpc>
              <a:buNone/>
            </a:pPr>
            <a:r>
              <a:rPr lang="en-US" sz="3200" b="1" dirty="0">
                <a:solidFill>
                  <a:srgbClr val="FFFFFF"/>
                </a:solidFill>
                <a:latin typeface="Cambria" pitchFamily="34" charset="0"/>
                <a:ea typeface="Cambria" pitchFamily="34" charset="-122"/>
                <a:cs typeface="Cambria" pitchFamily="34" charset="-120"/>
              </a:rPr>
              <a:t>Guarding the white desert, one intelligent decision at a time.</a:t>
            </a:r>
            <a:endParaRPr lang="en-US" sz="3200" dirty="0"/>
          </a:p>
        </p:txBody>
      </p:sp>
      <p:sp>
        <p:nvSpPr>
          <p:cNvPr id="6" name="Text 4"/>
          <p:cNvSpPr/>
          <p:nvPr/>
        </p:nvSpPr>
        <p:spPr>
          <a:xfrm>
            <a:off x="658368" y="3657600"/>
            <a:ext cx="10058400" cy="457200"/>
          </a:xfrm>
          <a:prstGeom prst="rect">
            <a:avLst/>
          </a:prstGeom>
          <a:noFill/>
          <a:ln/>
        </p:spPr>
        <p:txBody>
          <a:bodyPr wrap="square" rtlCol="0" anchor="ctr"/>
          <a:lstStyle/>
          <a:p>
            <a:pPr indent="0" marL="0">
              <a:buNone/>
            </a:pPr>
            <a:r>
              <a:rPr lang="en-US" sz="1400" i="1" dirty="0">
                <a:solidFill>
                  <a:srgbClr val="E8C989"/>
                </a:solidFill>
                <a:latin typeface="Calibri" pitchFamily="34" charset="0"/>
                <a:ea typeface="Calibri" pitchFamily="34" charset="-122"/>
                <a:cs typeface="Calibri" pitchFamily="34" charset="-120"/>
              </a:rPr>
              <a:t>Smart Rann of Kutch — Eco-Tourism &amp; Carrying Capacity Planner</a:t>
            </a:r>
            <a:endParaRPr lang="en-US" sz="1400" dirty="0"/>
          </a:p>
        </p:txBody>
      </p:sp>
      <p:sp>
        <p:nvSpPr>
          <p:cNvPr id="7" name="Text 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8A837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2026-07-29T13:51:35Z</dcterms:created>
  <dcterms:modified xsi:type="dcterms:W3CDTF">2026-07-29T13:51:35Z</dcterms:modified>
</cp:coreProperties>
</file>